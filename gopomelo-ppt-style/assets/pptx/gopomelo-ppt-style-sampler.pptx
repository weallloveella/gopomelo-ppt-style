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655d1d8eb145aa" /><Relationship Type="http://schemas.openxmlformats.org/officeDocument/2006/relationships/extended-properties" Target="/docProps/app.xml" Id="R8b6859634bbb41f9" /><Relationship Type="http://schemas.openxmlformats.org/officeDocument/2006/relationships/officeDocument" Target="/ppt/presentation.xml" Id="R9512e1289c4d47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c18763f82d458c"/>
  </p:sldMasterIdLst>
  <p:notesMasterIdLst>
    <p:notesMasterId xmlns:r="http://schemas.openxmlformats.org/officeDocument/2006/relationships" r:id="Re5e56b1fc7b64e4c"/>
  </p:notesMasterIdLst>
  <p:sldIdLst>
    <p:sldId xmlns:r="http://schemas.openxmlformats.org/officeDocument/2006/relationships" id="256" r:id="R76fc4852984943a7"/>
    <p:sldId xmlns:r="http://schemas.openxmlformats.org/officeDocument/2006/relationships" id="257" r:id="Rcfb26efa5af24e69"/>
    <p:sldId xmlns:r="http://schemas.openxmlformats.org/officeDocument/2006/relationships" id="258" r:id="Rd1d375055bde4491"/>
    <p:sldId xmlns:r="http://schemas.openxmlformats.org/officeDocument/2006/relationships" id="259" r:id="Rb38bee8c8073426f"/>
    <p:sldId xmlns:r="http://schemas.openxmlformats.org/officeDocument/2006/relationships" id="260" r:id="R4eebc475f37a4c42"/>
    <p:sldId xmlns:r="http://schemas.openxmlformats.org/officeDocument/2006/relationships" id="261" r:id="Rece96a6923e54b3c"/>
    <p:sldId xmlns:r="http://schemas.openxmlformats.org/officeDocument/2006/relationships" id="262" r:id="Rb148a45d963a4802"/>
    <p:sldId xmlns:r="http://schemas.openxmlformats.org/officeDocument/2006/relationships" id="263" r:id="R08b4fec0c7cb4070"/>
    <p:sldId xmlns:r="http://schemas.openxmlformats.org/officeDocument/2006/relationships" id="264" r:id="R3305ad7088574111"/>
    <p:sldId xmlns:r="http://schemas.openxmlformats.org/officeDocument/2006/relationships" id="265" r:id="Rd41f6847ec42472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fad234a4174b12" /><Relationship Type="http://schemas.openxmlformats.org/officeDocument/2006/relationships/slideMaster" Target="/ppt/slideMasters/slideMaster1.xml" Id="Rc3c18763f82d458c" /><Relationship Type="http://schemas.openxmlformats.org/officeDocument/2006/relationships/notesMaster" Target="/ppt/notesMasters/notesMaster1.xml" Id="Re5e56b1fc7b64e4c" /><Relationship Type="http://schemas.openxmlformats.org/officeDocument/2006/relationships/presProps" Target="/ppt/presProps.xml" Id="R857345316dd54133" /><Relationship Type="http://schemas.openxmlformats.org/officeDocument/2006/relationships/tableStyles" Target="/ppt/tableStyles.xml" Id="R04174244b0b84f1c" /><Relationship Type="http://schemas.openxmlformats.org/officeDocument/2006/relationships/slide" Target="/ppt/slides/slide1.xml" Id="R76fc4852984943a7" /><Relationship Type="http://schemas.openxmlformats.org/officeDocument/2006/relationships/slide" Target="/ppt/slides/slide2.xml" Id="Rcfb26efa5af24e69" /><Relationship Type="http://schemas.openxmlformats.org/officeDocument/2006/relationships/slide" Target="/ppt/slides/slide3.xml" Id="Rd1d375055bde4491" /><Relationship Type="http://schemas.openxmlformats.org/officeDocument/2006/relationships/slide" Target="/ppt/slides/slide4.xml" Id="Rb38bee8c8073426f" /><Relationship Type="http://schemas.openxmlformats.org/officeDocument/2006/relationships/slide" Target="/ppt/slides/slide5.xml" Id="R4eebc475f37a4c42" /><Relationship Type="http://schemas.openxmlformats.org/officeDocument/2006/relationships/slide" Target="/ppt/slides/slide6.xml" Id="Rece96a6923e54b3c" /><Relationship Type="http://schemas.openxmlformats.org/officeDocument/2006/relationships/slide" Target="/ppt/slides/slide7.xml" Id="Rb148a45d963a4802" /><Relationship Type="http://schemas.openxmlformats.org/officeDocument/2006/relationships/slide" Target="/ppt/slides/slide8.xml" Id="R08b4fec0c7cb4070" /><Relationship Type="http://schemas.openxmlformats.org/officeDocument/2006/relationships/slide" Target="/ppt/slides/slide9.xml" Id="R3305ad7088574111" /><Relationship Type="http://schemas.openxmlformats.org/officeDocument/2006/relationships/slide" Target="/ppt/slides/slide10.xml" Id="Rd41f6847ec4247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9e5b485f5f42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95250" dir="5400000">
              <a:srgbClr val="5B2E36">
                <a:alpha val="7000"/>
              </a:srgbClr>
            </a:outerShdw>
          </a:effectLst>
        </a:effectStyle>
        <a:effectStyle>
          <a:effectLst>
            <a:outerShdw blurRad="342900" dist="133350" dir="5400000">
              <a:srgbClr val="5B2E36">
                <a:alpha val="8000"/>
              </a:srgbClr>
            </a:outerShdw>
          </a:effectLst>
        </a:effectStyle>
        <a:effectStyle>
          <a:effectLst>
            <a:outerShdw blurRad="495300" dist="171450" dir="5400000">
              <a:srgbClr val="5B2E36">
                <a:alpha val="13000"/>
              </a:srgbClr>
            </a:outerShdw>
          </a:effectLst>
        </a:effectStyle>
        <a:effectStyle>
          <a:effectLst>
            <a:outerShdw blurRad="247650" dist="95250" dir="5400000">
              <a:srgbClr val="5B2E36">
                <a:alpha val="15000"/>
              </a:srgbClr>
            </a:outerShdw>
          </a:effectLst>
        </a:effectStyle>
        <a:effectStyle>
          <a:effectLst>
            <a:outerShdw blurRad="304800" dist="11430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514350" dist="171450" dir="5400000">
              <a:srgbClr val="000000">
                <a:alpha val="22000"/>
              </a:srgbClr>
            </a:outerShdw>
          </a:effectLst>
        </a:effectStyle>
        <a:effectStyle>
          <a:effectLst>
            <a:outerShdw blurRad="285750" dist="114300" dir="5400000">
              <a:srgbClr val="000000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2bc9271283414d" /><Relationship Type="http://schemas.openxmlformats.org/officeDocument/2006/relationships/notesMaster" Target="/ppt/notesMasters/notesMaster1.xml" Id="R240c1be014904e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007a7d4c2a4fb1" /><Relationship Type="http://schemas.openxmlformats.org/officeDocument/2006/relationships/notesMaster" Target="/ppt/notesMasters/notesMaster1.xml" Id="R22384384cde44c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00f38d8cc24f57" /><Relationship Type="http://schemas.openxmlformats.org/officeDocument/2006/relationships/notesMaster" Target="/ppt/notesMasters/notesMaster1.xml" Id="R46f1ed97640a4e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a303a32f6c4467" /><Relationship Type="http://schemas.openxmlformats.org/officeDocument/2006/relationships/notesMaster" Target="/ppt/notesMasters/notesMaster1.xml" Id="R9bffc80ce28049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4e26e6b2af49a0" /><Relationship Type="http://schemas.openxmlformats.org/officeDocument/2006/relationships/notesMaster" Target="/ppt/notesMasters/notesMaster1.xml" Id="R3962e79f136c4c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a3db8580214a7e" /><Relationship Type="http://schemas.openxmlformats.org/officeDocument/2006/relationships/notesMaster" Target="/ppt/notesMasters/notesMaster1.xml" Id="R2a9e8e20842643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97c39347024994" /><Relationship Type="http://schemas.openxmlformats.org/officeDocument/2006/relationships/notesMaster" Target="/ppt/notesMasters/notesMaster1.xml" Id="Ra6a939839a9143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88586e7804429c" /><Relationship Type="http://schemas.openxmlformats.org/officeDocument/2006/relationships/notesMaster" Target="/ppt/notesMasters/notesMaster1.xml" Id="R0d48b9862a0848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810632bb414037" /><Relationship Type="http://schemas.openxmlformats.org/officeDocument/2006/relationships/notesMaster" Target="/ppt/notesMasters/notesMaster1.xml" Id="Rc3e5b925fdf94f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b8806b9fe94dc7" /><Relationship Type="http://schemas.openxmlformats.org/officeDocument/2006/relationships/notesMaster" Target="/ppt/notesMasters/notesMaster1.xml" Id="R18e9a845af914c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252da9e9348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1482e73277438c" /><Relationship Type="http://schemas.openxmlformats.org/officeDocument/2006/relationships/slideLayout" Target="/ppt/slideLayouts/slideLayout1.xml" Id="Rfc79dc51243341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79dc51243341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95250" dir="5400000">
              <a:srgbClr val="5B2E36">
                <a:alpha val="7000"/>
              </a:srgbClr>
            </a:outerShdw>
          </a:effectLst>
        </a:effectStyle>
        <a:effectStyle>
          <a:effectLst>
            <a:outerShdw blurRad="342900" dist="133350" dir="5400000">
              <a:srgbClr val="5B2E36">
                <a:alpha val="8000"/>
              </a:srgbClr>
            </a:outerShdw>
          </a:effectLst>
        </a:effectStyle>
        <a:effectStyle>
          <a:effectLst>
            <a:outerShdw blurRad="495300" dist="171450" dir="5400000">
              <a:srgbClr val="5B2E36">
                <a:alpha val="13000"/>
              </a:srgbClr>
            </a:outerShdw>
          </a:effectLst>
        </a:effectStyle>
        <a:effectStyle>
          <a:effectLst>
            <a:outerShdw blurRad="247650" dist="95250" dir="5400000">
              <a:srgbClr val="5B2E36">
                <a:alpha val="15000"/>
              </a:srgbClr>
            </a:outerShdw>
          </a:effectLst>
        </a:effectStyle>
        <a:effectStyle>
          <a:effectLst>
            <a:outerShdw blurRad="304800" dist="11430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514350" dist="171450" dir="5400000">
              <a:srgbClr val="000000">
                <a:alpha val="22000"/>
              </a:srgbClr>
            </a:outerShdw>
          </a:effectLst>
        </a:effectStyle>
        <a:effectStyle>
          <a:effectLst>
            <a:outerShdw blurRad="285750" dist="114300" dir="5400000">
              <a:srgbClr val="000000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749bc78094f68" /><Relationship Type="http://schemas.openxmlformats.org/officeDocument/2006/relationships/image" Target="/ppt/media/image.png" Id="R54f189f4d60343c5" /><Relationship Type="http://schemas.openxmlformats.org/officeDocument/2006/relationships/notesSlide" Target="/ppt/notesSlides/notesSlide1.xml" Id="R95f94fe1ffc145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17b42839b4240" /><Relationship Type="http://schemas.openxmlformats.org/officeDocument/2006/relationships/image" Target="/ppt/media/image2.png" Id="Re1d6ac81ab664239" /><Relationship Type="http://schemas.openxmlformats.org/officeDocument/2006/relationships/notesSlide" Target="/ppt/notesSlides/notesSlide2.xml" Id="R145b3e6c9e9d49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9047cbf99403e" /><Relationship Type="http://schemas.openxmlformats.org/officeDocument/2006/relationships/image" Target="/ppt/media/image3.png" Id="R56122ccf8170407c" /><Relationship Type="http://schemas.openxmlformats.org/officeDocument/2006/relationships/notesSlide" Target="/ppt/notesSlides/notesSlide3.xml" Id="R52a87c4830b946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2ce22d4104ff0" /><Relationship Type="http://schemas.openxmlformats.org/officeDocument/2006/relationships/image" Target="/ppt/media/image4.png" Id="Rb8dad73c50504d1a" /><Relationship Type="http://schemas.openxmlformats.org/officeDocument/2006/relationships/notesSlide" Target="/ppt/notesSlides/notesSlide4.xml" Id="R7fbd6ea4485040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2c18b30ef4dc0" /><Relationship Type="http://schemas.openxmlformats.org/officeDocument/2006/relationships/image" Target="/ppt/media/image5.png" Id="R9818596dc10b499c" /><Relationship Type="http://schemas.openxmlformats.org/officeDocument/2006/relationships/image" Target="/ppt/media/image6.png" Id="Rc5c4734e285e4ee6" /><Relationship Type="http://schemas.openxmlformats.org/officeDocument/2006/relationships/notesSlide" Target="/ppt/notesSlides/notesSlide5.xml" Id="R0d284c1acb384f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1bd59402b45df" /><Relationship Type="http://schemas.openxmlformats.org/officeDocument/2006/relationships/image" Target="/ppt/media/image7.png" Id="R3952fef6bfb44d87" /><Relationship Type="http://schemas.openxmlformats.org/officeDocument/2006/relationships/notesSlide" Target="/ppt/notesSlides/notesSlide6.xml" Id="R228e0ee1a8ab4f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084ccbf834b75" /><Relationship Type="http://schemas.openxmlformats.org/officeDocument/2006/relationships/image" Target="/ppt/media/image8.png" Id="Rdcbb354658064c10" /><Relationship Type="http://schemas.openxmlformats.org/officeDocument/2006/relationships/notesSlide" Target="/ppt/notesSlides/notesSlide7.xml" Id="Rdd146c822e6a44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1e6ce6c564c83" /><Relationship Type="http://schemas.openxmlformats.org/officeDocument/2006/relationships/image" Target="/ppt/media/image9.png" Id="R99f894f9d5524518" /><Relationship Type="http://schemas.openxmlformats.org/officeDocument/2006/relationships/notesSlide" Target="/ppt/notesSlides/notesSlide8.xml" Id="Rd97d884d89ef41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41e6fc6e54f50" /><Relationship Type="http://schemas.openxmlformats.org/officeDocument/2006/relationships/image" Target="/ppt/media/image.jpeg" Id="R7238b8e77e224785" /><Relationship Type="http://schemas.openxmlformats.org/officeDocument/2006/relationships/notesSlide" Target="/ppt/notesSlides/notesSlide9.xml" Id="Rf27c1f5dd89842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27361e0644f14" /><Relationship Type="http://schemas.openxmlformats.org/officeDocument/2006/relationships/image" Target="/ppt/media/image10.png" Id="Rf077092b102f4867" /><Relationship Type="http://schemas.openxmlformats.org/officeDocument/2006/relationships/notesSlide" Target="/ppt/notesSlides/notesSlide10.xml" Id="R520f3beb206f4dc8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191F"/>
            </a:gs>
            <a:gs pos="100000">
              <a:srgbClr val="20252D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P01-pink-wash">
            <a:extLst xmlns:a="http://schemas.openxmlformats.org/drawingml/2006/main">
              <a:ext uri="{FF2B5EF4-FFF2-40B4-BE49-F238E27FC236}">
                <a16:creationId xmlns:a16="http://schemas.microsoft.com/office/drawing/2014/main" id="{7629F651-01EB-4A61-A5D3-25CB476E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2286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83F8F">
                  <a:alpha val="16000"/>
                </a:srgbClr>
              </a:gs>
              <a:gs pos="72000">
                <a:srgbClr val="F83F8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189f4d60343c5"/>
          <a:stretch xmlns:a="http://schemas.openxmlformats.org/drawingml/2006/main"/>
        </p:blipFill>
        <p:spPr>
          <a:xfrm xmlns:a="http://schemas.openxmlformats.org/drawingml/2006/main">
            <a:off x="685800" y="591397"/>
            <a:ext cx="1352550" cy="255482"/>
          </a:xfrm>
          <a:prstGeom xmlns:a="http://schemas.openxmlformats.org/drawingml/2006/main" prst="rect">
            <a:avLst/>
          </a:prstGeom>
        </p:spPr>
      </p:pic>
      <p:sp>
        <p:nvSpPr>
          <p:cNvPr id="3" name="GoPomelo PPT Style-dot">
            <a:extLst xmlns:a="http://schemas.openxmlformats.org/drawingml/2006/main">
              <a:ext uri="{FF2B5EF4-FFF2-40B4-BE49-F238E27FC236}">
                <a16:creationId xmlns:a16="http://schemas.microsoft.com/office/drawing/2014/main" id="{49696499-36A8-4BF7-AA8A-84BE1D54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3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GoPomelo PPT Style-eyebrow">
            <a:extLst xmlns:a="http://schemas.openxmlformats.org/drawingml/2006/main">
              <a:ext uri="{FF2B5EF4-FFF2-40B4-BE49-F238E27FC236}">
                <a16:creationId xmlns:a16="http://schemas.microsoft.com/office/drawing/2014/main" id="{86C3EFB4-C77E-4A04-A636-8475B066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GOPOMELO PPT STYLE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8B85749-32EE-4372-9097-415E7C06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00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0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6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presentation system that feels unmistakably GoPomelo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9200853-5C72-40CE-84F4-B7BF3E8B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650" b="0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rPr>
              <a:t>Clean, precise and practical — with brand color used as a signature, not a field.</a:t>
            </a:r>
          </a:p>
        </p:txBody>
      </p:sp>
      <p:sp>
        <p:nvSpPr>
          <p:cNvPr id="7" name="chrome-1-brand">
            <a:extLst xmlns:a="http://schemas.openxmlformats.org/drawingml/2006/main">
              <a:ext uri="{FF2B5EF4-FFF2-40B4-BE49-F238E27FC236}">
                <a16:creationId xmlns:a16="http://schemas.microsoft.com/office/drawing/2014/main" id="{D608BE8D-0306-40D4-92EE-B5554CFE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rPr>
              <a:t>GoPomelo</a:t>
            </a:r>
          </a:p>
        </p:txBody>
      </p:sp>
      <p:sp>
        <p:nvSpPr>
          <p:cNvPr id="8" name="chrome-1-page">
            <a:extLst xmlns:a="http://schemas.openxmlformats.org/drawingml/2006/main">
              <a:ext uri="{FF2B5EF4-FFF2-40B4-BE49-F238E27FC236}">
                <a16:creationId xmlns:a16="http://schemas.microsoft.com/office/drawing/2014/main" id="{F26133FF-6D0D-47AD-AC03-10227564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61583123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100000">
              <a:srgbClr val="FFFDFC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P02-warm-wash">
            <a:extLst xmlns:a="http://schemas.openxmlformats.org/drawingml/2006/main">
              <a:ext uri="{FF2B5EF4-FFF2-40B4-BE49-F238E27FC236}">
                <a16:creationId xmlns:a16="http://schemas.microsoft.com/office/drawing/2014/main" id="{EEB41BA2-4257-4B83-AB29-0BB85605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B9305">
                  <a:alpha val="10000"/>
                </a:srgbClr>
              </a:gs>
              <a:gs pos="48000">
                <a:srgbClr val="F3604F">
                  <a:alpha val="4000"/>
                </a:srgbClr>
              </a:gs>
              <a:gs pos="100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6ac81ab664239"/>
          <a:stretch xmlns:a="http://schemas.openxmlformats.org/drawingml/2006/main"/>
        </p:blipFill>
        <p:spPr>
          <a:xfrm xmlns:a="http://schemas.openxmlformats.org/drawingml/2006/main">
            <a:off x="10096500" y="572347"/>
            <a:ext cx="1352550" cy="255482"/>
          </a:xfrm>
          <a:prstGeom xmlns:a="http://schemas.openxmlformats.org/drawingml/2006/main" prst="rect">
            <a:avLst/>
          </a:prstGeom>
        </p:spPr>
      </p:pic>
      <p:sp>
        <p:nvSpPr>
          <p:cNvPr id="3" name="Story architecture-dot">
            <a:extLst xmlns:a="http://schemas.openxmlformats.org/drawingml/2006/main">
              <a:ext uri="{FF2B5EF4-FFF2-40B4-BE49-F238E27FC236}">
                <a16:creationId xmlns:a16="http://schemas.microsoft.com/office/drawing/2014/main" id="{1128CC4D-1D71-4AC7-B177-66DE17D7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23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3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ory architecture-eyebrow">
            <a:extLst xmlns:a="http://schemas.openxmlformats.org/drawingml/2006/main">
              <a:ext uri="{FF2B5EF4-FFF2-40B4-BE49-F238E27FC236}">
                <a16:creationId xmlns:a16="http://schemas.microsoft.com/office/drawing/2014/main" id="{8AA765CE-68D3-40C2-A00A-8F5C4811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763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0252D"/>
                </a:solidFill>
                <a:latin typeface="Arial"/>
                <a:ea typeface="Arial"/>
                <a:cs typeface="Arial"/>
              </a:rPr>
              <a:t>STORY ARCHITECTURE</a:t>
            </a:r>
          </a:p>
        </p:txBody>
      </p:sp>
      <p:sp>
        <p:nvSpPr>
          <p:cNvPr id="5" name="index-title">
            <a:extLst xmlns:a="http://schemas.openxmlformats.org/drawingml/2006/main">
              <a:ext uri="{FF2B5EF4-FFF2-40B4-BE49-F238E27FC236}">
                <a16:creationId xmlns:a16="http://schemas.microsoft.com/office/drawing/2014/main" id="{73EE7B8C-284D-4106-AE14-10236870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4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00" b="1" i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20252D"/>
                </a:solidFill>
                <a:latin typeface="Arial"/>
                <a:ea typeface="Arial"/>
                <a:cs typeface="Arial"/>
              </a:rPr>
              <a:t>One visual language, built for different stories</a:t>
            </a:r>
          </a:p>
        </p:txBody>
      </p:sp>
      <p:sp>
        <p:nvSpPr>
          <p:cNvPr id="6" name="index-lead">
            <a:extLst xmlns:a="http://schemas.openxmlformats.org/drawingml/2006/main">
              <a:ext uri="{FF2B5EF4-FFF2-40B4-BE49-F238E27FC236}">
                <a16:creationId xmlns:a16="http://schemas.microsoft.com/office/drawing/2014/main" id="{25C2068D-DEA7-419D-8E58-8D299FB1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500" b="0" i="0">
                <a:solidFill>
                  <a:srgbClr val="6E6E7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E6E73"/>
                </a:solidFill>
                <a:latin typeface="Arial"/>
                <a:ea typeface="Arial"/>
                <a:cs typeface="Arial"/>
              </a:rPr>
              <a:t>The system stays recognizable while the layout changes with the job of each slide.</a:t>
            </a:r>
          </a:p>
        </p:txBody>
      </p:sp>
      <p:sp>
        <p:nvSpPr>
          <p:cNvPr id="7" name="index-item-1">
            <a:extLst xmlns:a="http://schemas.openxmlformats.org/drawingml/2006/main">
              <a:ext uri="{FF2B5EF4-FFF2-40B4-BE49-F238E27FC236}">
                <a16:creationId xmlns:a16="http://schemas.microsoft.com/office/drawing/2014/main" id="{A14BC030-BD89-4238-9C30-CD7CDC9B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876300"/>
            <a:ext cx="5648325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9525">
            <a:solidFill>
              <a:srgbClr val="20252D">
                <a:alpha val="1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index-number-1">
            <a:extLst xmlns:a="http://schemas.openxmlformats.org/drawingml/2006/main">
              <a:ext uri="{FF2B5EF4-FFF2-40B4-BE49-F238E27FC236}">
                <a16:creationId xmlns:a16="http://schemas.microsoft.com/office/drawing/2014/main" id="{F7FD78C4-9D53-46B3-94E4-0F5DD8FB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1049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C9186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186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index-heading-1">
            <a:extLst xmlns:a="http://schemas.openxmlformats.org/drawingml/2006/main">
              <a:ext uri="{FF2B5EF4-FFF2-40B4-BE49-F238E27FC236}">
                <a16:creationId xmlns:a16="http://schemas.microsoft.com/office/drawing/2014/main" id="{0DF7A890-F25B-4F9E-A06A-611206C2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47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0252D"/>
                </a:solidFill>
                <a:latin typeface="Arial"/>
                <a:ea typeface="Arial"/>
                <a:cs typeface="Arial"/>
              </a:rPr>
              <a:t>Start with the outcome</a:t>
            </a:r>
          </a:p>
        </p:txBody>
      </p:sp>
      <p:sp>
        <p:nvSpPr>
          <p:cNvPr id="10" name="index-copy-1">
            <a:extLst xmlns:a="http://schemas.openxmlformats.org/drawingml/2006/main">
              <a:ext uri="{FF2B5EF4-FFF2-40B4-BE49-F238E27FC236}">
                <a16:creationId xmlns:a16="http://schemas.microsoft.com/office/drawing/2014/main" id="{080C3F47-D8EF-49DA-968E-FBBD199E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 i="0">
                <a:solidFill>
                  <a:srgbClr val="6E6E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E6E73"/>
                </a:solidFill>
                <a:latin typeface="Arial"/>
                <a:ea typeface="Arial"/>
                <a:cs typeface="Arial"/>
              </a:rPr>
              <a:t>Give the audience a reason to care before adding detail.</a:t>
            </a:r>
          </a:p>
        </p:txBody>
      </p:sp>
      <p:sp>
        <p:nvSpPr>
          <p:cNvPr id="11" name="index-item-2">
            <a:extLst xmlns:a="http://schemas.openxmlformats.org/drawingml/2006/main">
              <a:ext uri="{FF2B5EF4-FFF2-40B4-BE49-F238E27FC236}">
                <a16:creationId xmlns:a16="http://schemas.microsoft.com/office/drawing/2014/main" id="{B618FCA0-A4F5-4C07-9ADE-28980132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133600"/>
            <a:ext cx="5648325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9525">
            <a:solidFill>
              <a:srgbClr val="20252D">
                <a:alpha val="1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index-number-2">
            <a:extLst xmlns:a="http://schemas.openxmlformats.org/drawingml/2006/main">
              <a:ext uri="{FF2B5EF4-FFF2-40B4-BE49-F238E27FC236}">
                <a16:creationId xmlns:a16="http://schemas.microsoft.com/office/drawing/2014/main" id="{C9DF384A-5624-47A3-802D-AD24908B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622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C9186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18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index-heading-2">
            <a:extLst xmlns:a="http://schemas.openxmlformats.org/drawingml/2006/main">
              <a:ext uri="{FF2B5EF4-FFF2-40B4-BE49-F238E27FC236}">
                <a16:creationId xmlns:a16="http://schemas.microsoft.com/office/drawing/2014/main" id="{D69E84D5-F188-4B65-9327-49FCF04C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050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0252D"/>
                </a:solidFill>
                <a:latin typeface="Arial"/>
                <a:ea typeface="Arial"/>
                <a:cs typeface="Arial"/>
              </a:rPr>
              <a:t>Make the evidence visual</a:t>
            </a:r>
          </a:p>
        </p:txBody>
      </p:sp>
      <p:sp>
        <p:nvSpPr>
          <p:cNvPr id="14" name="index-copy-2">
            <a:extLst xmlns:a="http://schemas.openxmlformats.org/drawingml/2006/main">
              <a:ext uri="{FF2B5EF4-FFF2-40B4-BE49-F238E27FC236}">
                <a16:creationId xmlns:a16="http://schemas.microsoft.com/office/drawing/2014/main" id="{DEA11B4C-F86E-45FB-909A-D8514E9A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 i="0">
                <a:solidFill>
                  <a:srgbClr val="6E6E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E6E73"/>
                </a:solidFill>
                <a:latin typeface="Arial"/>
                <a:ea typeface="Arial"/>
                <a:cs typeface="Arial"/>
              </a:rPr>
              <a:t>Use scale, contrast and imagery to expose the important signal.</a:t>
            </a:r>
          </a:p>
        </p:txBody>
      </p:sp>
      <p:sp>
        <p:nvSpPr>
          <p:cNvPr id="15" name="index-item-3">
            <a:extLst xmlns:a="http://schemas.openxmlformats.org/drawingml/2006/main">
              <a:ext uri="{FF2B5EF4-FFF2-40B4-BE49-F238E27FC236}">
                <a16:creationId xmlns:a16="http://schemas.microsoft.com/office/drawing/2014/main" id="{7B196F50-7B3B-4EC4-8082-8D6DC8E8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90900"/>
            <a:ext cx="5648325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9525">
            <a:solidFill>
              <a:srgbClr val="20252D">
                <a:alpha val="1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index-number-3">
            <a:extLst xmlns:a="http://schemas.openxmlformats.org/drawingml/2006/main">
              <a:ext uri="{FF2B5EF4-FFF2-40B4-BE49-F238E27FC236}">
                <a16:creationId xmlns:a16="http://schemas.microsoft.com/office/drawing/2014/main" id="{1A99B647-B40B-4062-9B58-71796DFA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195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C9186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18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index-heading-3">
            <a:extLst xmlns:a="http://schemas.openxmlformats.org/drawingml/2006/main">
              <a:ext uri="{FF2B5EF4-FFF2-40B4-BE49-F238E27FC236}">
                <a16:creationId xmlns:a16="http://schemas.microsoft.com/office/drawing/2014/main" id="{D2B92AE5-17AB-460A-BA67-069D164A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23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0252D"/>
                </a:solidFill>
                <a:latin typeface="Arial"/>
                <a:ea typeface="Arial"/>
                <a:cs typeface="Arial"/>
              </a:rPr>
              <a:t>Show how delivery works</a:t>
            </a:r>
          </a:p>
        </p:txBody>
      </p:sp>
      <p:sp>
        <p:nvSpPr>
          <p:cNvPr id="18" name="index-copy-3">
            <a:extLst xmlns:a="http://schemas.openxmlformats.org/drawingml/2006/main">
              <a:ext uri="{FF2B5EF4-FFF2-40B4-BE49-F238E27FC236}">
                <a16:creationId xmlns:a16="http://schemas.microsoft.com/office/drawing/2014/main" id="{17C3B01C-01AB-4804-98E8-A1655DC6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433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4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 i="0">
                <a:solidFill>
                  <a:srgbClr val="6E6E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E6E73"/>
                </a:solidFill>
                <a:latin typeface="Arial"/>
                <a:ea typeface="Arial"/>
                <a:cs typeface="Arial"/>
              </a:rPr>
              <a:t>Turn complex operating models into a sequence people can follow.</a:t>
            </a:r>
          </a:p>
        </p:txBody>
      </p:sp>
      <p:sp>
        <p:nvSpPr>
          <p:cNvPr id="19" name="index-item-4">
            <a:extLst xmlns:a="http://schemas.openxmlformats.org/drawingml/2006/main">
              <a:ext uri="{FF2B5EF4-FFF2-40B4-BE49-F238E27FC236}">
                <a16:creationId xmlns:a16="http://schemas.microsoft.com/office/drawing/2014/main" id="{E3429956-10DB-4AAB-8CD8-D98414FD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648200"/>
            <a:ext cx="5648325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9525">
            <a:solidFill>
              <a:srgbClr val="20252D">
                <a:alpha val="1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" name="index-number-4">
            <a:extLst xmlns:a="http://schemas.openxmlformats.org/drawingml/2006/main">
              <a:ext uri="{FF2B5EF4-FFF2-40B4-BE49-F238E27FC236}">
                <a16:creationId xmlns:a16="http://schemas.microsoft.com/office/drawing/2014/main" id="{A323300E-F4D1-4A94-9DC9-A001D28C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8768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C9186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18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index-heading-4">
            <a:extLst xmlns:a="http://schemas.openxmlformats.org/drawingml/2006/main">
              <a:ext uri="{FF2B5EF4-FFF2-40B4-BE49-F238E27FC236}">
                <a16:creationId xmlns:a16="http://schemas.microsoft.com/office/drawing/2014/main" id="{76A47FD3-580A-4AF2-8734-BD78636C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96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0252D"/>
                </a:solidFill>
                <a:latin typeface="Arial"/>
                <a:ea typeface="Arial"/>
                <a:cs typeface="Arial"/>
              </a:rPr>
              <a:t>Close with a decision</a:t>
            </a:r>
          </a:p>
        </p:txBody>
      </p:sp>
      <p:sp>
        <p:nvSpPr>
          <p:cNvPr id="22" name="index-copy-4">
            <a:extLst xmlns:a="http://schemas.openxmlformats.org/drawingml/2006/main">
              <a:ext uri="{FF2B5EF4-FFF2-40B4-BE49-F238E27FC236}">
                <a16:creationId xmlns:a16="http://schemas.microsoft.com/office/drawing/2014/main" id="{C27A527F-9BD4-414D-B1B3-E279A3EB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006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 i="0">
                <a:solidFill>
                  <a:srgbClr val="6E6E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E6E73"/>
                </a:solidFill>
                <a:latin typeface="Arial"/>
                <a:ea typeface="Arial"/>
                <a:cs typeface="Arial"/>
              </a:rPr>
              <a:t>End on one clear action, not a crowded summary.</a:t>
            </a:r>
          </a:p>
        </p:txBody>
      </p:sp>
      <p:sp>
        <p:nvSpPr>
          <p:cNvPr id="23" name="chrome-2-brand">
            <a:extLst xmlns:a="http://schemas.openxmlformats.org/drawingml/2006/main">
              <a:ext uri="{FF2B5EF4-FFF2-40B4-BE49-F238E27FC236}">
                <a16:creationId xmlns:a16="http://schemas.microsoft.com/office/drawing/2014/main" id="{4456ACAD-997D-472A-B263-508DDA0A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E6E7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E73"/>
                </a:solidFill>
                <a:latin typeface="Arial"/>
                <a:ea typeface="Arial"/>
                <a:cs typeface="Arial"/>
              </a:rPr>
              <a:t>GoPomelo</a:t>
            </a:r>
          </a:p>
        </p:txBody>
      </p:sp>
      <p:sp>
        <p:nvSpPr>
          <p:cNvPr id="24" name="chrome-2-page">
            <a:extLst xmlns:a="http://schemas.openxmlformats.org/drawingml/2006/main">
              <a:ext uri="{FF2B5EF4-FFF2-40B4-BE49-F238E27FC236}">
                <a16:creationId xmlns:a16="http://schemas.microsoft.com/office/drawing/2014/main" id="{C14CB86C-AFD5-4B89-B53C-62D53032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E6E7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E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1398739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191F"/>
            </a:gs>
            <a:gs pos="100000">
              <a:srgbClr val="20252D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P03-pink-wash">
            <a:extLst xmlns:a="http://schemas.openxmlformats.org/drawingml/2006/main">
              <a:ext uri="{FF2B5EF4-FFF2-40B4-BE49-F238E27FC236}">
                <a16:creationId xmlns:a16="http://schemas.microsoft.com/office/drawing/2014/main" id="{B63A3D99-F320-499D-ADF6-FFD0B26C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2286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83F8F">
                  <a:alpha val="16000"/>
                </a:srgbClr>
              </a:gs>
              <a:gs pos="72000">
                <a:srgbClr val="F83F8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22ccf8170407c"/>
          <a:stretch xmlns:a="http://schemas.openxmlformats.org/drawingml/2006/main"/>
        </p:blipFill>
        <p:spPr>
          <a:xfrm xmlns:a="http://schemas.openxmlformats.org/drawingml/2006/main">
            <a:off x="9944100" y="572347"/>
            <a:ext cx="1352550" cy="255482"/>
          </a:xfrm>
          <a:prstGeom xmlns:a="http://schemas.openxmlformats.org/drawingml/2006/main" prst="rect">
            <a:avLst/>
          </a:prstGeom>
        </p:spPr>
      </p:pic>
      <p:sp>
        <p:nvSpPr>
          <p:cNvPr id="3" name="Design principle-dot">
            <a:extLst xmlns:a="http://schemas.openxmlformats.org/drawingml/2006/main">
              <a:ext uri="{FF2B5EF4-FFF2-40B4-BE49-F238E27FC236}">
                <a16:creationId xmlns:a16="http://schemas.microsoft.com/office/drawing/2014/main" id="{839BEB5A-08AC-4AF1-AF02-E57D234A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28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3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sign principle-eyebrow">
            <a:extLst xmlns:a="http://schemas.openxmlformats.org/drawingml/2006/main">
              <a:ext uri="{FF2B5EF4-FFF2-40B4-BE49-F238E27FC236}">
                <a16:creationId xmlns:a16="http://schemas.microsoft.com/office/drawing/2014/main" id="{AFE253BF-9B9E-4C03-BA0A-F7F499FD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811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PRINCIPLE</a:t>
            </a:r>
          </a:p>
        </p:txBody>
      </p:sp>
      <p:sp>
        <p:nvSpPr>
          <p:cNvPr id="5" name="statement">
            <a:extLst xmlns:a="http://schemas.openxmlformats.org/drawingml/2006/main">
              <a:ext uri="{FF2B5EF4-FFF2-40B4-BE49-F238E27FC236}">
                <a16:creationId xmlns:a16="http://schemas.microsoft.com/office/drawing/2014/main" id="{BCDE2374-A4EE-409E-8800-0EBD73FE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287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brand should feel credible before it feels colorful.</a:t>
            </a:r>
          </a:p>
        </p:txBody>
      </p:sp>
      <p:sp>
        <p:nvSpPr>
          <p:cNvPr id="6" name="statement-support">
            <a:extLst xmlns:a="http://schemas.openxmlformats.org/drawingml/2006/main">
              <a:ext uri="{FF2B5EF4-FFF2-40B4-BE49-F238E27FC236}">
                <a16:creationId xmlns:a16="http://schemas.microsoft.com/office/drawing/2014/main" id="{9708B8E4-1642-42C1-9C7E-1A325103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685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500" b="0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rPr>
              <a:t>White and near-black carry the deck; pink and orange supply controlled energy.</a:t>
            </a:r>
          </a:p>
        </p:txBody>
      </p:sp>
      <p:sp>
        <p:nvSpPr>
          <p:cNvPr id="7" name="chrome-3-brand">
            <a:extLst xmlns:a="http://schemas.openxmlformats.org/drawingml/2006/main">
              <a:ext uri="{FF2B5EF4-FFF2-40B4-BE49-F238E27FC236}">
                <a16:creationId xmlns:a16="http://schemas.microsoft.com/office/drawing/2014/main" id="{6E24DB47-ED75-4FF2-90FA-987344DC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rPr>
              <a:t>GoPomelo</a:t>
            </a:r>
          </a:p>
        </p:txBody>
      </p:sp>
      <p:sp>
        <p:nvSpPr>
          <p:cNvPr id="8" name="chrome-3-page">
            <a:extLst xmlns:a="http://schemas.openxmlformats.org/drawingml/2006/main">
              <a:ext uri="{FF2B5EF4-FFF2-40B4-BE49-F238E27FC236}">
                <a16:creationId xmlns:a16="http://schemas.microsoft.com/office/drawing/2014/main" id="{2F9DE6C6-FB34-4846-92A2-83E214AB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36419429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100000">
              <a:srgbClr val="FFFDFC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P04-warm-wash">
            <a:extLst xmlns:a="http://schemas.openxmlformats.org/drawingml/2006/main">
              <a:ext uri="{FF2B5EF4-FFF2-40B4-BE49-F238E27FC236}">
                <a16:creationId xmlns:a16="http://schemas.microsoft.com/office/drawing/2014/main" id="{1EE1FAFE-8430-49A3-87BC-A692A701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B9305">
                  <a:alpha val="10000"/>
                </a:srgbClr>
              </a:gs>
              <a:gs pos="48000">
                <a:srgbClr val="F3604F">
                  <a:alpha val="4000"/>
                </a:srgbClr>
              </a:gs>
              <a:gs pos="100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Visual character-dot">
            <a:extLst xmlns:a="http://schemas.openxmlformats.org/drawingml/2006/main">
              <a:ext uri="{FF2B5EF4-FFF2-40B4-BE49-F238E27FC236}">
                <a16:creationId xmlns:a16="http://schemas.microsoft.com/office/drawing/2014/main" id="{A964CCC6-48C5-43E7-A078-7FE8AEE8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3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Visual character-eyebrow">
            <a:extLst xmlns:a="http://schemas.openxmlformats.org/drawingml/2006/main">
              <a:ext uri="{FF2B5EF4-FFF2-40B4-BE49-F238E27FC236}">
                <a16:creationId xmlns:a16="http://schemas.microsoft.com/office/drawing/2014/main" id="{A27F7F5B-6F56-430E-A00E-CA4536AC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0252D"/>
                </a:solidFill>
                <a:latin typeface="Arial"/>
                <a:ea typeface="Arial"/>
                <a:cs typeface="Arial"/>
              </a:rPr>
              <a:t>VISUAL CHARACTER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EDA45A-3337-41B7-85B4-51FD8ADC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763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0252D"/>
                </a:solidFill>
                <a:latin typeface="Arial"/>
                <a:ea typeface="Arial"/>
                <a:cs typeface="Arial"/>
              </a:rPr>
              <a:t>Three qualities hold the system together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ad73c50504d1a"/>
          <a:stretch xmlns:a="http://schemas.openxmlformats.org/drawingml/2006/main"/>
        </p:blipFill>
        <p:spPr>
          <a:xfrm xmlns:a="http://schemas.openxmlformats.org/drawingml/2006/main">
            <a:off x="10096500" y="572347"/>
            <a:ext cx="1352550" cy="255482"/>
          </a:xfrm>
          <a:prstGeom xmlns:a="http://schemas.openxmlformats.org/drawingml/2006/main" prst="rect">
            <a:avLst/>
          </a:prstGeom>
        </p:spPr>
      </p:pic>
      <p:sp>
        <p:nvSpPr>
          <p:cNvPr id="6" name="capability-card-1">
            <a:extLst xmlns:a="http://schemas.openxmlformats.org/drawingml/2006/main">
              <a:ext uri="{FF2B5EF4-FFF2-40B4-BE49-F238E27FC236}">
                <a16:creationId xmlns:a16="http://schemas.microsoft.com/office/drawing/2014/main" id="{2722C334-C30E-48E5-942A-47BE47B9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352800" cy="3390900"/>
          </a:xfrm>
          <a:prstGeom xmlns:a="http://schemas.openxmlformats.org/drawingml/2006/main" prst="roundRect">
            <a:avLst>
              <a:gd name="adj" fmla="val 8523"/>
            </a:avLst>
          </a:prstGeom>
          <a:solidFill xmlns:a="http://schemas.openxmlformats.org/drawingml/2006/main">
            <a:srgbClr val="FFFFFF">
              <a:alpha val="84000"/>
            </a:srgbClr>
          </a:solidFill>
          <a:ln xmlns:a="http://schemas.openxmlformats.org/drawingml/2006/main" w="9525">
            <a:solidFill>
              <a:srgbClr val="20252D">
                <a:alpha val="1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7" name="capability-chip-1">
            <a:extLst xmlns:a="http://schemas.openxmlformats.org/drawingml/2006/main">
              <a:ext uri="{FF2B5EF4-FFF2-40B4-BE49-F238E27FC236}">
                <a16:creationId xmlns:a16="http://schemas.microsoft.com/office/drawing/2014/main" id="{46B76087-FF99-40F3-9C5C-A13956DA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4953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83F8F">
              <a:alpha val="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pability-code-1">
            <a:extLst xmlns:a="http://schemas.openxmlformats.org/drawingml/2006/main">
              <a:ext uri="{FF2B5EF4-FFF2-40B4-BE49-F238E27FC236}">
                <a16:creationId xmlns:a16="http://schemas.microsoft.com/office/drawing/2014/main" id="{6ECE8E10-CEDA-49B9-BA37-B25C5F2E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52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C918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186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capability-title-1">
            <a:extLst xmlns:a="http://schemas.openxmlformats.org/drawingml/2006/main">
              <a:ext uri="{FF2B5EF4-FFF2-40B4-BE49-F238E27FC236}">
                <a16:creationId xmlns:a16="http://schemas.microsoft.com/office/drawing/2014/main" id="{F2AC753B-75BC-4F1D-A906-606C1ED3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025" b="1" i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0252D"/>
                </a:solidFill>
                <a:latin typeface="Arial"/>
                <a:ea typeface="Arial"/>
                <a:cs typeface="Arial"/>
              </a:rPr>
              <a:t>B2B confidence</a:t>
            </a:r>
          </a:p>
        </p:txBody>
      </p:sp>
      <p:sp>
        <p:nvSpPr>
          <p:cNvPr id="10" name="capability-copy-1">
            <a:extLst xmlns:a="http://schemas.openxmlformats.org/drawingml/2006/main">
              <a:ext uri="{FF2B5EF4-FFF2-40B4-BE49-F238E27FC236}">
                <a16:creationId xmlns:a16="http://schemas.microsoft.com/office/drawing/2014/main" id="{BCD84FF5-CC13-41E9-A25F-2E1A2E0A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2819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6000"/>
              </a:lnSpc>
              <a:buNone/>
              <a:defRPr sz="1275" b="0" i="0">
                <a:solidFill>
                  <a:srgbClr val="6E6E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E6E73"/>
                </a:solidFill>
                <a:latin typeface="Arial"/>
                <a:ea typeface="Arial"/>
                <a:cs typeface="Arial"/>
              </a:rPr>
              <a:t>White and near-black create credibility; selective pink and orange accents keep the brand recognizable.</a:t>
            </a:r>
          </a:p>
        </p:txBody>
      </p:sp>
      <p:sp>
        <p:nvSpPr>
          <p:cNvPr id="11" name="capability-card-2">
            <a:extLst xmlns:a="http://schemas.openxmlformats.org/drawingml/2006/main">
              <a:ext uri="{FF2B5EF4-FFF2-40B4-BE49-F238E27FC236}">
                <a16:creationId xmlns:a16="http://schemas.microsoft.com/office/drawing/2014/main" id="{150DF0DE-094B-44FF-8324-5771B4B9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86000"/>
            <a:ext cx="3352800" cy="3390900"/>
          </a:xfrm>
          <a:prstGeom xmlns:a="http://schemas.openxmlformats.org/drawingml/2006/main" prst="roundRect">
            <a:avLst>
              <a:gd name="adj" fmla="val 8523"/>
            </a:avLst>
          </a:prstGeom>
          <a:solidFill xmlns:a="http://schemas.openxmlformats.org/drawingml/2006/main">
            <a:srgbClr val="FFFFFF">
              <a:alpha val="84000"/>
            </a:srgbClr>
          </a:solidFill>
          <a:ln xmlns:a="http://schemas.openxmlformats.org/drawingml/2006/main" w="9525">
            <a:solidFill>
              <a:srgbClr val="20252D">
                <a:alpha val="1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2" name="capability-chip-2">
            <a:extLst xmlns:a="http://schemas.openxmlformats.org/drawingml/2006/main">
              <a:ext uri="{FF2B5EF4-FFF2-40B4-BE49-F238E27FC236}">
                <a16:creationId xmlns:a16="http://schemas.microsoft.com/office/drawing/2014/main" id="{7B415524-4FDD-4428-8C78-40C841B9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90800"/>
            <a:ext cx="4953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83F8F">
              <a:alpha val="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pability-code-2">
            <a:extLst xmlns:a="http://schemas.openxmlformats.org/drawingml/2006/main">
              <a:ext uri="{FF2B5EF4-FFF2-40B4-BE49-F238E27FC236}">
                <a16:creationId xmlns:a16="http://schemas.microsoft.com/office/drawing/2014/main" id="{3128B6B7-11BB-4AAB-B595-63653372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52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C918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18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capability-title-2">
            <a:extLst xmlns:a="http://schemas.openxmlformats.org/drawingml/2006/main">
              <a:ext uri="{FF2B5EF4-FFF2-40B4-BE49-F238E27FC236}">
                <a16:creationId xmlns:a16="http://schemas.microsoft.com/office/drawing/2014/main" id="{880E2AEB-8273-4747-A377-C3CEC491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81375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025" b="1" i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0252D"/>
                </a:solidFill>
                <a:latin typeface="Arial"/>
                <a:ea typeface="Arial"/>
                <a:cs typeface="Arial"/>
              </a:rPr>
              <a:t>Practical clarity</a:t>
            </a:r>
          </a:p>
        </p:txBody>
      </p:sp>
      <p:sp>
        <p:nvSpPr>
          <p:cNvPr id="15" name="capability-copy-2">
            <a:extLst xmlns:a="http://schemas.openxmlformats.org/drawingml/2006/main">
              <a:ext uri="{FF2B5EF4-FFF2-40B4-BE49-F238E27FC236}">
                <a16:creationId xmlns:a16="http://schemas.microsoft.com/office/drawing/2014/main" id="{FDF26AC6-E225-456A-A56C-086EEFA9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67200"/>
            <a:ext cx="2819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6000"/>
              </a:lnSpc>
              <a:buNone/>
              <a:defRPr sz="1275" b="0" i="0">
                <a:solidFill>
                  <a:srgbClr val="6E6E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E6E73"/>
                </a:solidFill>
                <a:latin typeface="Arial"/>
                <a:ea typeface="Arial"/>
                <a:cs typeface="Arial"/>
              </a:rPr>
              <a:t>Large headings, short copy and generous space make the message easy to scan.</a:t>
            </a:r>
          </a:p>
        </p:txBody>
      </p:sp>
      <p:sp>
        <p:nvSpPr>
          <p:cNvPr id="16" name="capability-card-3">
            <a:extLst xmlns:a="http://schemas.openxmlformats.org/drawingml/2006/main">
              <a:ext uri="{FF2B5EF4-FFF2-40B4-BE49-F238E27FC236}">
                <a16:creationId xmlns:a16="http://schemas.microsoft.com/office/drawing/2014/main" id="{71708190-056E-449B-955D-08F456C6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86000"/>
            <a:ext cx="3352800" cy="3390900"/>
          </a:xfrm>
          <a:prstGeom xmlns:a="http://schemas.openxmlformats.org/drawingml/2006/main" prst="roundRect">
            <a:avLst>
              <a:gd name="adj" fmla="val 8523"/>
            </a:avLst>
          </a:prstGeom>
          <a:solidFill xmlns:a="http://schemas.openxmlformats.org/drawingml/2006/main">
            <a:srgbClr val="FFFFFF">
              <a:alpha val="84000"/>
            </a:srgbClr>
          </a:solidFill>
          <a:ln xmlns:a="http://schemas.openxmlformats.org/drawingml/2006/main" w="9525">
            <a:solidFill>
              <a:srgbClr val="20252D">
                <a:alpha val="1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7" name="capability-chip-3">
            <a:extLst xmlns:a="http://schemas.openxmlformats.org/drawingml/2006/main">
              <a:ext uri="{FF2B5EF4-FFF2-40B4-BE49-F238E27FC236}">
                <a16:creationId xmlns:a16="http://schemas.microsoft.com/office/drawing/2014/main" id="{4E06DEEC-8093-44BF-BA2E-8145E7D1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90800"/>
            <a:ext cx="4953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83F8F">
              <a:alpha val="9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pability-code-3">
            <a:extLst xmlns:a="http://schemas.openxmlformats.org/drawingml/2006/main">
              <a:ext uri="{FF2B5EF4-FFF2-40B4-BE49-F238E27FC236}">
                <a16:creationId xmlns:a16="http://schemas.microsoft.com/office/drawing/2014/main" id="{97874C26-D5E2-4ACE-9E6A-26A9B7DA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52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 i="0">
                <a:solidFill>
                  <a:srgbClr val="C918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918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capability-title-3">
            <a:extLst xmlns:a="http://schemas.openxmlformats.org/drawingml/2006/main">
              <a:ext uri="{FF2B5EF4-FFF2-40B4-BE49-F238E27FC236}">
                <a16:creationId xmlns:a16="http://schemas.microsoft.com/office/drawing/2014/main" id="{CE376E70-654E-4516-94CA-14EAA186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81375"/>
            <a:ext cx="2819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025" b="1" i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0252D"/>
                </a:solidFill>
                <a:latin typeface="Arial"/>
                <a:ea typeface="Arial"/>
                <a:cs typeface="Arial"/>
              </a:rPr>
              <a:t>Visual momentum</a:t>
            </a:r>
          </a:p>
        </p:txBody>
      </p:sp>
      <p:sp>
        <p:nvSpPr>
          <p:cNvPr id="20" name="capability-copy-3">
            <a:extLst xmlns:a="http://schemas.openxmlformats.org/drawingml/2006/main">
              <a:ext uri="{FF2B5EF4-FFF2-40B4-BE49-F238E27FC236}">
                <a16:creationId xmlns:a16="http://schemas.microsoft.com/office/drawing/2014/main" id="{9A4F46CE-21A2-40E6-AC93-727ADEEA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67200"/>
            <a:ext cx="2819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6000"/>
              </a:lnSpc>
              <a:buNone/>
              <a:defRPr sz="1275" b="0" i="0">
                <a:solidFill>
                  <a:srgbClr val="6E6E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E6E73"/>
                </a:solidFill>
                <a:latin typeface="Arial"/>
                <a:ea typeface="Arial"/>
                <a:cs typeface="Arial"/>
              </a:rPr>
              <a:t>Contrast, soft gradients and changing silhouettes keep the story moving.</a:t>
            </a:r>
          </a:p>
        </p:txBody>
      </p:sp>
      <p:sp>
        <p:nvSpPr>
          <p:cNvPr id="21" name="chrome-4-brand">
            <a:extLst xmlns:a="http://schemas.openxmlformats.org/drawingml/2006/main">
              <a:ext uri="{FF2B5EF4-FFF2-40B4-BE49-F238E27FC236}">
                <a16:creationId xmlns:a16="http://schemas.microsoft.com/office/drawing/2014/main" id="{F9037898-8498-4757-9046-41AB8147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E6E7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E73"/>
                </a:solidFill>
                <a:latin typeface="Arial"/>
                <a:ea typeface="Arial"/>
                <a:cs typeface="Arial"/>
              </a:rPr>
              <a:t>GoPomelo</a:t>
            </a:r>
          </a:p>
        </p:txBody>
      </p:sp>
      <p:sp>
        <p:nvSpPr>
          <p:cNvPr id="22" name="chrome-4-page">
            <a:extLst xmlns:a="http://schemas.openxmlformats.org/drawingml/2006/main">
              <a:ext uri="{FF2B5EF4-FFF2-40B4-BE49-F238E27FC236}">
                <a16:creationId xmlns:a16="http://schemas.microsoft.com/office/drawing/2014/main" id="{F1D437E8-3FF9-44C6-B3AB-C7F8AE0E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E6E7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E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36469506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100000">
              <a:srgbClr val="FFFDFC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P05-warm-wash">
            <a:extLst xmlns:a="http://schemas.openxmlformats.org/drawingml/2006/main">
              <a:ext uri="{FF2B5EF4-FFF2-40B4-BE49-F238E27FC236}">
                <a16:creationId xmlns:a16="http://schemas.microsoft.com/office/drawing/2014/main" id="{F446179F-5368-4EE7-BCDF-68A50078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B9305">
                  <a:alpha val="10000"/>
                </a:srgbClr>
              </a:gs>
              <a:gs pos="48000">
                <a:srgbClr val="F3604F">
                  <a:alpha val="4000"/>
                </a:srgbClr>
              </a:gs>
              <a:gs pos="100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8596dc10b499c"/>
          <a:stretch xmlns:a="http://schemas.openxmlformats.org/drawingml/2006/main"/>
        </p:blipFill>
        <p:spPr>
          <a:xfrm xmlns:a="http://schemas.openxmlformats.org/drawingml/2006/main">
            <a:off x="685800" y="572347"/>
            <a:ext cx="1352550" cy="255482"/>
          </a:xfrm>
          <a:prstGeom xmlns:a="http://schemas.openxmlformats.org/drawingml/2006/main" prst="rect">
            <a:avLst/>
          </a:prstGeom>
        </p:spPr>
      </p:pic>
      <p:sp>
        <p:nvSpPr>
          <p:cNvPr id="3" name="Source language-dot">
            <a:extLst xmlns:a="http://schemas.openxmlformats.org/drawingml/2006/main">
              <a:ext uri="{FF2B5EF4-FFF2-40B4-BE49-F238E27FC236}">
                <a16:creationId xmlns:a16="http://schemas.microsoft.com/office/drawing/2014/main" id="{14115D63-5537-4B3A-AC89-2F28072C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3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ource language-eyebrow">
            <a:extLst xmlns:a="http://schemas.openxmlformats.org/drawingml/2006/main">
              <a:ext uri="{FF2B5EF4-FFF2-40B4-BE49-F238E27FC236}">
                <a16:creationId xmlns:a16="http://schemas.microsoft.com/office/drawing/2014/main" id="{D9CA5158-588D-4A8C-A140-16A2184D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1445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0252D"/>
                </a:solidFill>
                <a:latin typeface="Arial"/>
                <a:ea typeface="Arial"/>
                <a:cs typeface="Arial"/>
              </a:rPr>
              <a:t>SOURCE LANGUAGE</a:t>
            </a:r>
          </a:p>
        </p:txBody>
      </p:sp>
      <p:sp>
        <p:nvSpPr>
          <p:cNvPr id="5" name="split-title">
            <a:extLst xmlns:a="http://schemas.openxmlformats.org/drawingml/2006/main">
              <a:ext uri="{FF2B5EF4-FFF2-40B4-BE49-F238E27FC236}">
                <a16:creationId xmlns:a16="http://schemas.microsoft.com/office/drawing/2014/main" id="{3DD8E87E-50F3-4F74-909B-56BC2973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095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0252D"/>
                </a:solidFill>
                <a:latin typeface="Arial"/>
                <a:ea typeface="Arial"/>
                <a:cs typeface="Arial"/>
              </a:rPr>
              <a:t>Landing-page energy, disciplined for a 16:9 canvas</a:t>
            </a:r>
          </a:p>
        </p:txBody>
      </p:sp>
      <p:sp>
        <p:nvSpPr>
          <p:cNvPr id="6" name="split-copy">
            <a:extLst xmlns:a="http://schemas.openxmlformats.org/drawingml/2006/main">
              <a:ext uri="{FF2B5EF4-FFF2-40B4-BE49-F238E27FC236}">
                <a16:creationId xmlns:a16="http://schemas.microsoft.com/office/drawing/2014/main" id="{FC938A9D-F306-4D3B-B6D1-B6E6660E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425" b="0" i="0">
                <a:solidFill>
                  <a:srgbClr val="6E6E7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E6E73"/>
                </a:solidFill>
                <a:latin typeface="Arial"/>
                <a:ea typeface="Arial"/>
                <a:cs typeface="Arial"/>
              </a:rPr>
              <a:t>Oversized typography and translucent labels remain. The landing-page gradient is reserved for moments of transition, not repeated across the deck.</a:t>
            </a:r>
          </a:p>
        </p:txBody>
      </p:sp>
      <p:sp>
        <p:nvSpPr>
          <p:cNvPr id="7" name="split-image-shadow-frame">
            <a:extLst xmlns:a="http://schemas.openxmlformats.org/drawingml/2006/main">
              <a:ext uri="{FF2B5EF4-FFF2-40B4-BE49-F238E27FC236}">
                <a16:creationId xmlns:a16="http://schemas.microsoft.com/office/drawing/2014/main" id="{89A65E42-D519-4C9A-804E-C1C94100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876300"/>
            <a:ext cx="6219825" cy="47625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4734e285e4ee6"/>
          <a:stretch xmlns:a="http://schemas.openxmlformats.org/drawingml/2006/main"/>
        </p:blipFill>
        <p:spPr>
          <a:xfrm xmlns:a="http://schemas.openxmlformats.org/drawingml/2006/main">
            <a:off x="5286375" y="1573694"/>
            <a:ext cx="6219825" cy="3367712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9" name="split-caption-surface">
            <a:extLst xmlns:a="http://schemas.openxmlformats.org/drawingml/2006/main">
              <a:ext uri="{FF2B5EF4-FFF2-40B4-BE49-F238E27FC236}">
                <a16:creationId xmlns:a16="http://schemas.microsoft.com/office/drawing/2014/main" id="{138200BA-C06A-40E7-AECC-D9B0D0B6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991100"/>
            <a:ext cx="40005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FFFFF">
              <a:alpha val="86000"/>
            </a:srgbClr>
          </a:solidFill>
          <a:ln xmlns:a="http://schemas.openxmlformats.org/drawingml/2006/main" w="9525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0" name="split-caption">
            <a:extLst xmlns:a="http://schemas.openxmlformats.org/drawingml/2006/main">
              <a:ext uri="{FF2B5EF4-FFF2-40B4-BE49-F238E27FC236}">
                <a16:creationId xmlns:a16="http://schemas.microsoft.com/office/drawing/2014/main" id="{16A6F64B-80D8-4651-ACED-DCD0D542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124450"/>
            <a:ext cx="3695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0252D"/>
                </a:solidFill>
                <a:latin typeface="Arial"/>
                <a:ea typeface="Arial"/>
                <a:cs typeface="Arial"/>
              </a:rPr>
              <a:t>Landing-page warmth, selectively translated</a:t>
            </a:r>
          </a:p>
        </p:txBody>
      </p:sp>
      <p:sp>
        <p:nvSpPr>
          <p:cNvPr id="11" name="chrome-5-brand">
            <a:extLst xmlns:a="http://schemas.openxmlformats.org/drawingml/2006/main">
              <a:ext uri="{FF2B5EF4-FFF2-40B4-BE49-F238E27FC236}">
                <a16:creationId xmlns:a16="http://schemas.microsoft.com/office/drawing/2014/main" id="{25262326-B7E9-4D87-A369-6051836B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E6E7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E73"/>
                </a:solidFill>
                <a:latin typeface="Arial"/>
                <a:ea typeface="Arial"/>
                <a:cs typeface="Arial"/>
              </a:rPr>
              <a:t>GoPomelo</a:t>
            </a:r>
          </a:p>
        </p:txBody>
      </p:sp>
      <p:sp>
        <p:nvSpPr>
          <p:cNvPr id="12" name="chrome-5-page">
            <a:extLst xmlns:a="http://schemas.openxmlformats.org/drawingml/2006/main">
              <a:ext uri="{FF2B5EF4-FFF2-40B4-BE49-F238E27FC236}">
                <a16:creationId xmlns:a16="http://schemas.microsoft.com/office/drawing/2014/main" id="{06D10876-5036-41DE-B9B4-FB3230A2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E6E7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E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01870002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3604F"/>
            </a:gs>
            <a:gs pos="62000">
              <a:srgbClr val="FB9305"/>
            </a:gs>
            <a:gs pos="100000">
              <a:srgbClr val="FFBE06"/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pomelo-logo-pill">
            <a:extLst xmlns:a="http://schemas.openxmlformats.org/drawingml/2006/main">
              <a:ext uri="{FF2B5EF4-FFF2-40B4-BE49-F238E27FC236}">
                <a16:creationId xmlns:a16="http://schemas.microsoft.com/office/drawing/2014/main" id="{6850B9DF-72E1-477E-8AA7-6E6076AD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5300"/>
            <a:ext cx="15621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52fef6bfb44d87"/>
          <a:stretch xmlns:a="http://schemas.openxmlformats.org/drawingml/2006/main"/>
        </p:blipFill>
        <p:spPr>
          <a:xfrm xmlns:a="http://schemas.openxmlformats.org/drawingml/2006/main">
            <a:off x="10170459" y="619125"/>
            <a:ext cx="1109382" cy="209550"/>
          </a:xfrm>
          <a:prstGeom xmlns:a="http://schemas.openxmlformats.org/drawingml/2006/main" prst="rect">
            <a:avLst/>
          </a:prstGeom>
        </p:spPr>
      </p:pic>
      <p:sp>
        <p:nvSpPr>
          <p:cNvPr id="3" name="act-number">
            <a:extLst xmlns:a="http://schemas.openxmlformats.org/drawingml/2006/main">
              <a:ext uri="{FF2B5EF4-FFF2-40B4-BE49-F238E27FC236}">
                <a16:creationId xmlns:a16="http://schemas.microsoft.com/office/drawing/2014/main" id="{D27366F0-4E4D-4BD3-846B-F6B94139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2000"/>
              </a:lnSpc>
              <a:buNone/>
              <a:defRPr sz="11250" b="1" i="0">
                <a:solidFill>
                  <a:srgbClr val="FFFFFF">
                    <a:alpha val="25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1250" b="1" i="0">
                <a:solidFill>
                  <a:srgbClr val="FFFFFF">
                    <a:alpha val="25000"/>
                  </a:srgbClr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System in motion-dot">
            <a:extLst xmlns:a="http://schemas.openxmlformats.org/drawingml/2006/main">
              <a:ext uri="{FF2B5EF4-FFF2-40B4-BE49-F238E27FC236}">
                <a16:creationId xmlns:a16="http://schemas.microsoft.com/office/drawing/2014/main" id="{1BC727AC-38D2-45B6-B49F-C825472F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09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ystem in motion-eyebrow">
            <a:extLst xmlns:a="http://schemas.openxmlformats.org/drawingml/2006/main">
              <a:ext uri="{FF2B5EF4-FFF2-40B4-BE49-F238E27FC236}">
                <a16:creationId xmlns:a16="http://schemas.microsoft.com/office/drawing/2014/main" id="{E5F81C3D-59DE-4A12-93E4-C14DD6FC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 IN MOTION</a:t>
            </a:r>
          </a:p>
        </p:txBody>
      </p:sp>
      <p:sp>
        <p:nvSpPr>
          <p:cNvPr id="6" name="divider-title">
            <a:extLst xmlns:a="http://schemas.openxmlformats.org/drawingml/2006/main">
              <a:ext uri="{FF2B5EF4-FFF2-40B4-BE49-F238E27FC236}">
                <a16:creationId xmlns:a16="http://schemas.microsoft.com/office/drawing/2014/main" id="{843560D1-09CC-4AAD-8714-E08800E5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28850"/>
            <a:ext cx="723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visual language to repeatable delivery</a:t>
            </a:r>
          </a:p>
        </p:txBody>
      </p:sp>
      <p:sp>
        <p:nvSpPr>
          <p:cNvPr id="7" name="divider-support">
            <a:extLst xmlns:a="http://schemas.openxmlformats.org/drawingml/2006/main">
              <a:ext uri="{FF2B5EF4-FFF2-40B4-BE49-F238E27FC236}">
                <a16:creationId xmlns:a16="http://schemas.microsoft.com/office/drawing/2014/main" id="{F3B828F2-9C36-4224-B731-5D60DA06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910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 i="0">
                <a:solidFill>
                  <a:srgbClr val="FFFFFF">
                    <a:alpha val="78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>
                    <a:alpha val="78000"/>
                  </a:srgbClr>
                </a:solidFill>
                <a:latin typeface="Arial"/>
                <a:ea typeface="Arial"/>
                <a:cs typeface="Arial"/>
              </a:rPr>
              <a:t>The style becomes useful when it can turn source material into a coherent deck again and again.</a:t>
            </a:r>
          </a:p>
        </p:txBody>
      </p:sp>
      <p:sp>
        <p:nvSpPr>
          <p:cNvPr id="8" name="chrome-6-brand">
            <a:extLst xmlns:a="http://schemas.openxmlformats.org/drawingml/2006/main">
              <a:ext uri="{FF2B5EF4-FFF2-40B4-BE49-F238E27FC236}">
                <a16:creationId xmlns:a16="http://schemas.microsoft.com/office/drawing/2014/main" id="{6B24D019-43EB-4422-B08C-55E33B99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rPr>
              <a:t>GoPomelo</a:t>
            </a:r>
          </a:p>
        </p:txBody>
      </p:sp>
      <p:sp>
        <p:nvSpPr>
          <p:cNvPr id="9" name="chrome-6-page">
            <a:extLst xmlns:a="http://schemas.openxmlformats.org/drawingml/2006/main">
              <a:ext uri="{FF2B5EF4-FFF2-40B4-BE49-F238E27FC236}">
                <a16:creationId xmlns:a16="http://schemas.microsoft.com/office/drawing/2014/main" id="{854CA788-F0B9-4A47-AA5E-76DA0147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22103522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191F"/>
            </a:gs>
            <a:gs pos="100000">
              <a:srgbClr val="20252D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P07-pink-wash">
            <a:extLst xmlns:a="http://schemas.openxmlformats.org/drawingml/2006/main">
              <a:ext uri="{FF2B5EF4-FFF2-40B4-BE49-F238E27FC236}">
                <a16:creationId xmlns:a16="http://schemas.microsoft.com/office/drawing/2014/main" id="{C2733569-31ED-48DD-88DA-44ADF5AC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2286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83F8F">
                  <a:alpha val="16000"/>
                </a:srgbClr>
              </a:gs>
              <a:gs pos="72000">
                <a:srgbClr val="F83F8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Creation workflow-dot">
            <a:extLst xmlns:a="http://schemas.openxmlformats.org/drawingml/2006/main">
              <a:ext uri="{FF2B5EF4-FFF2-40B4-BE49-F238E27FC236}">
                <a16:creationId xmlns:a16="http://schemas.microsoft.com/office/drawing/2014/main" id="{E190449F-A5B8-4D20-A6CD-6C78ED4F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3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reation workflow-eyebrow">
            <a:extLst xmlns:a="http://schemas.openxmlformats.org/drawingml/2006/main">
              <a:ext uri="{FF2B5EF4-FFF2-40B4-BE49-F238E27FC236}">
                <a16:creationId xmlns:a16="http://schemas.microsoft.com/office/drawing/2014/main" id="{D21E7319-2709-451E-BECC-9546765F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CREATION WORKFLOW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B4AF21-814B-4261-A23A-40670855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763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simple path from source material to a finished deck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b354658064c10"/>
          <a:stretch xmlns:a="http://schemas.openxmlformats.org/drawingml/2006/main"/>
        </p:blipFill>
        <p:spPr>
          <a:xfrm xmlns:a="http://schemas.openxmlformats.org/drawingml/2006/main">
            <a:off x="10096500" y="572347"/>
            <a:ext cx="1352550" cy="255482"/>
          </a:xfrm>
          <a:prstGeom xmlns:a="http://schemas.openxmlformats.org/drawingml/2006/main" prst="rect">
            <a:avLst/>
          </a:prstGeom>
        </p:spPr>
      </p:pic>
      <p:sp>
        <p:nvSpPr>
          <p:cNvPr id="6" name="workflow-route">
            <a:extLst xmlns:a="http://schemas.openxmlformats.org/drawingml/2006/main">
              <a:ext uri="{FF2B5EF4-FFF2-40B4-BE49-F238E27FC236}">
                <a16:creationId xmlns:a16="http://schemas.microsoft.com/office/drawing/2014/main" id="{292E50D2-06D3-4EE1-80FF-51002D76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86100"/>
            <a:ext cx="9334500" cy="28575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0">
                <a:srgbClr val="F83F8F"/>
              </a:gs>
              <a:gs pos="58000">
                <a:srgbClr val="F83F8F"/>
              </a:gs>
              <a:gs pos="82000">
                <a:srgbClr val="F3604F"/>
              </a:gs>
              <a:gs pos="100000">
                <a:srgbClr val="FB9305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7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4B1B4096-8FAC-4D36-8D73-EF74BDDE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62250"/>
            <a:ext cx="685800" cy="685800"/>
          </a:xfrm>
          <a:prstGeom xmlns:a="http://schemas.openxmlformats.org/drawingml/2006/main" prst="roundRect">
            <a:avLst>
              <a:gd name="adj" fmla="val 30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8" name="workflow-node-text-1">
            <a:extLst xmlns:a="http://schemas.openxmlformats.org/drawingml/2006/main">
              <a:ext uri="{FF2B5EF4-FFF2-40B4-BE49-F238E27FC236}">
                <a16:creationId xmlns:a16="http://schemas.microsoft.com/office/drawing/2014/main" id="{6774F45E-D598-4CDA-8049-287E71CD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09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C9186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186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workflow-title-1">
            <a:extLst xmlns:a="http://schemas.openxmlformats.org/drawingml/2006/main">
              <a:ext uri="{FF2B5EF4-FFF2-40B4-BE49-F238E27FC236}">
                <a16:creationId xmlns:a16="http://schemas.microsoft.com/office/drawing/2014/main" id="{B4F11A3B-0222-4BDD-9CF1-353146D8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0" name="workflow-copy-1">
            <a:extLst xmlns:a="http://schemas.openxmlformats.org/drawingml/2006/main">
              <a:ext uri="{FF2B5EF4-FFF2-40B4-BE49-F238E27FC236}">
                <a16:creationId xmlns:a16="http://schemas.microsoft.com/office/drawing/2014/main" id="{4FC58F97-5758-4F58-B610-0D014979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00" b="0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rPr>
              <a:t>Extract the audience, outcome, evidence and constraints.</a:t>
            </a:r>
          </a:p>
        </p:txBody>
      </p:sp>
      <p:sp>
        <p:nvSpPr>
          <p:cNvPr id="1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D683E081-CFAD-46FD-9C98-6DB1C02E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62250"/>
            <a:ext cx="685800" cy="685800"/>
          </a:xfrm>
          <a:prstGeom xmlns:a="http://schemas.openxmlformats.org/drawingml/2006/main" prst="roundRect">
            <a:avLst>
              <a:gd name="adj" fmla="val 30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12" name="workflow-node-text-2">
            <a:extLst xmlns:a="http://schemas.openxmlformats.org/drawingml/2006/main">
              <a:ext uri="{FF2B5EF4-FFF2-40B4-BE49-F238E27FC236}">
                <a16:creationId xmlns:a16="http://schemas.microsoft.com/office/drawing/2014/main" id="{4B5648C4-265C-4DEB-BD98-D31106DD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09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C9186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18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workflow-title-2">
            <a:extLst xmlns:a="http://schemas.openxmlformats.org/drawingml/2006/main">
              <a:ext uri="{FF2B5EF4-FFF2-40B4-BE49-F238E27FC236}">
                <a16:creationId xmlns:a16="http://schemas.microsoft.com/office/drawing/2014/main" id="{D2EB10AE-4215-4E9C-AD77-1F58809F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62375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Structure</a:t>
            </a:r>
          </a:p>
        </p:txBody>
      </p:sp>
      <p:sp>
        <p:nvSpPr>
          <p:cNvPr id="14" name="workflow-copy-2">
            <a:extLst xmlns:a="http://schemas.openxmlformats.org/drawingml/2006/main">
              <a:ext uri="{FF2B5EF4-FFF2-40B4-BE49-F238E27FC236}">
                <a16:creationId xmlns:a16="http://schemas.microsoft.com/office/drawing/2014/main" id="{A2C2F24F-A870-4550-B1FC-5683B129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5770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00" b="0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rPr>
              <a:t>Build a narrative arc before deciding which layout to use.</a:t>
            </a:r>
          </a:p>
        </p:txBody>
      </p:sp>
      <p:sp>
        <p:nvSpPr>
          <p:cNvPr id="15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6291C923-839A-413A-AE3A-4EF3AE64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685800" cy="685800"/>
          </a:xfrm>
          <a:prstGeom xmlns:a="http://schemas.openxmlformats.org/drawingml/2006/main" prst="roundRect">
            <a:avLst>
              <a:gd name="adj" fmla="val 30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16" name="workflow-node-text-3">
            <a:extLst xmlns:a="http://schemas.openxmlformats.org/drawingml/2006/main">
              <a:ext uri="{FF2B5EF4-FFF2-40B4-BE49-F238E27FC236}">
                <a16:creationId xmlns:a16="http://schemas.microsoft.com/office/drawing/2014/main" id="{49361550-C705-4DBD-A1D5-48F59140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09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C9186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18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workflow-title-3">
            <a:extLst xmlns:a="http://schemas.openxmlformats.org/drawingml/2006/main">
              <a:ext uri="{FF2B5EF4-FFF2-40B4-BE49-F238E27FC236}">
                <a16:creationId xmlns:a16="http://schemas.microsoft.com/office/drawing/2014/main" id="{202D2DDA-A1E5-4900-9ADA-BC167F0D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18" name="workflow-copy-3">
            <a:extLst xmlns:a="http://schemas.openxmlformats.org/drawingml/2006/main">
              <a:ext uri="{FF2B5EF4-FFF2-40B4-BE49-F238E27FC236}">
                <a16:creationId xmlns:a16="http://schemas.microsoft.com/office/drawing/2014/main" id="{E313CD87-3777-40F2-A4B7-887AE556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5770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00" b="0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rPr>
              <a:t>Apply the three page states and the right visual silhouette.</a:t>
            </a:r>
          </a:p>
        </p:txBody>
      </p:sp>
      <p:sp>
        <p:nvSpPr>
          <p:cNvPr id="19" name="workflow-node-4">
            <a:extLst xmlns:a="http://schemas.openxmlformats.org/drawingml/2006/main">
              <a:ext uri="{FF2B5EF4-FFF2-40B4-BE49-F238E27FC236}">
                <a16:creationId xmlns:a16="http://schemas.microsoft.com/office/drawing/2014/main" id="{D536E18C-D198-4D1D-ADA0-BACC1590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62250"/>
            <a:ext cx="685800" cy="685800"/>
          </a:xfrm>
          <a:prstGeom xmlns:a="http://schemas.openxmlformats.org/drawingml/2006/main" prst="roundRect">
            <a:avLst>
              <a:gd name="adj" fmla="val 30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20" name="workflow-node-text-4">
            <a:extLst xmlns:a="http://schemas.openxmlformats.org/drawingml/2006/main">
              <a:ext uri="{FF2B5EF4-FFF2-40B4-BE49-F238E27FC236}">
                <a16:creationId xmlns:a16="http://schemas.microsoft.com/office/drawing/2014/main" id="{B77A9171-C5E1-41E1-A427-607B7BE8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99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C9186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18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workflow-title-4">
            <a:extLst xmlns:a="http://schemas.openxmlformats.org/drawingml/2006/main">
              <a:ext uri="{FF2B5EF4-FFF2-40B4-BE49-F238E27FC236}">
                <a16:creationId xmlns:a16="http://schemas.microsoft.com/office/drawing/2014/main" id="{9DBF8F6A-8576-4D23-833A-A905EBD1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62375"/>
            <a:ext cx="2333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22" name="workflow-copy-4">
            <a:extLst xmlns:a="http://schemas.openxmlformats.org/drawingml/2006/main">
              <a:ext uri="{FF2B5EF4-FFF2-40B4-BE49-F238E27FC236}">
                <a16:creationId xmlns:a16="http://schemas.microsoft.com/office/drawing/2014/main" id="{E3236E96-F214-4C03-95AD-AFE3B509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5770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00" b="0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rPr>
              <a:t>Check content, rhythm, overflow and output parity.</a:t>
            </a:r>
          </a:p>
        </p:txBody>
      </p:sp>
      <p:sp>
        <p:nvSpPr>
          <p:cNvPr id="23" name="chrome-7-brand">
            <a:extLst xmlns:a="http://schemas.openxmlformats.org/drawingml/2006/main">
              <a:ext uri="{FF2B5EF4-FFF2-40B4-BE49-F238E27FC236}">
                <a16:creationId xmlns:a16="http://schemas.microsoft.com/office/drawing/2014/main" id="{1C6505B0-6B2B-4558-9F3D-CC5F4467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rPr>
              <a:t>GoPomelo</a:t>
            </a:r>
          </a:p>
        </p:txBody>
      </p:sp>
      <p:sp>
        <p:nvSpPr>
          <p:cNvPr id="24" name="chrome-7-page">
            <a:extLst xmlns:a="http://schemas.openxmlformats.org/drawingml/2006/main">
              <a:ext uri="{FF2B5EF4-FFF2-40B4-BE49-F238E27FC236}">
                <a16:creationId xmlns:a16="http://schemas.microsoft.com/office/drawing/2014/main" id="{2F333B8C-D2A7-4934-AFCE-584AD5C1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6208232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100000">
              <a:srgbClr val="FFFDFC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P08-warm-wash">
            <a:extLst xmlns:a="http://schemas.openxmlformats.org/drawingml/2006/main">
              <a:ext uri="{FF2B5EF4-FFF2-40B4-BE49-F238E27FC236}">
                <a16:creationId xmlns:a16="http://schemas.microsoft.com/office/drawing/2014/main" id="{7E73D0F2-8623-44AF-8917-DB8531C4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B9305">
                  <a:alpha val="10000"/>
                </a:srgbClr>
              </a:gs>
              <a:gs pos="48000">
                <a:srgbClr val="F3604F">
                  <a:alpha val="4000"/>
                </a:srgbClr>
              </a:gs>
              <a:gs pos="100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Design test-dot">
            <a:extLst xmlns:a="http://schemas.openxmlformats.org/drawingml/2006/main">
              <a:ext uri="{FF2B5EF4-FFF2-40B4-BE49-F238E27FC236}">
                <a16:creationId xmlns:a16="http://schemas.microsoft.com/office/drawing/2014/main" id="{4978FEE5-DD6C-45EE-A8A1-4A67D503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3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3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sign test-eyebrow">
            <a:extLst xmlns:a="http://schemas.openxmlformats.org/drawingml/2006/main">
              <a:ext uri="{FF2B5EF4-FFF2-40B4-BE49-F238E27FC236}">
                <a16:creationId xmlns:a16="http://schemas.microsoft.com/office/drawing/2014/main" id="{E2147F44-AF71-4AE4-914D-684CD4AD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0252D"/>
                </a:solidFill>
                <a:latin typeface="Arial"/>
                <a:ea typeface="Arial"/>
                <a:cs typeface="Arial"/>
              </a:rPr>
              <a:t>DESIGN TEST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B4E94E-D21C-4B70-B0C1-8DE94805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763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 i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0252D"/>
                </a:solidFill>
                <a:latin typeface="Arial"/>
                <a:ea typeface="Arial"/>
                <a:cs typeface="Arial"/>
              </a:rPr>
              <a:t>Variety comes from layout, not extra themes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894f9d5524518"/>
          <a:stretch xmlns:a="http://schemas.openxmlformats.org/drawingml/2006/main"/>
        </p:blipFill>
        <p:spPr>
          <a:xfrm xmlns:a="http://schemas.openxmlformats.org/drawingml/2006/main">
            <a:off x="10096500" y="572347"/>
            <a:ext cx="1352550" cy="255482"/>
          </a:xfrm>
          <a:prstGeom xmlns:a="http://schemas.openxmlformats.org/drawingml/2006/main" prst="rect">
            <a:avLst/>
          </a:prstGeom>
        </p:spPr>
      </p:pic>
      <p:sp>
        <p:nvSpPr>
          <p:cNvPr id="6" name="hero-value">
            <a:extLst xmlns:a="http://schemas.openxmlformats.org/drawingml/2006/main">
              <a:ext uri="{FF2B5EF4-FFF2-40B4-BE49-F238E27FC236}">
                <a16:creationId xmlns:a16="http://schemas.microsoft.com/office/drawing/2014/main" id="{792F01D1-73FB-44F1-9F5D-75D7BA14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000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11250" b="1" i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1250" b="1" i="0">
                <a:solidFill>
                  <a:srgbClr val="20252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hero-meaning">
            <a:extLst xmlns:a="http://schemas.openxmlformats.org/drawingml/2006/main">
              <a:ext uri="{FF2B5EF4-FFF2-40B4-BE49-F238E27FC236}">
                <a16:creationId xmlns:a16="http://schemas.microsoft.com/office/drawing/2014/main" id="{96F65AA9-7D1E-49FD-A37B-4A841B04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6000"/>
              </a:lnSpc>
              <a:buNone/>
              <a:defRPr sz="1575" b="0" i="0">
                <a:solidFill>
                  <a:srgbClr val="6E6E7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E6E73"/>
                </a:solidFill>
                <a:latin typeface="Arial"/>
                <a:ea typeface="Arial"/>
                <a:cs typeface="Arial"/>
              </a:rPr>
              <a:t>Three page states create a consistent rhythm across every GoPomelo deck.</a:t>
            </a:r>
          </a:p>
        </p:txBody>
      </p:sp>
      <p:sp>
        <p:nvSpPr>
          <p:cNvPr id="8" name="metric-1">
            <a:extLst xmlns:a="http://schemas.openxmlformats.org/drawingml/2006/main">
              <a:ext uri="{FF2B5EF4-FFF2-40B4-BE49-F238E27FC236}">
                <a16:creationId xmlns:a16="http://schemas.microsoft.com/office/drawing/2014/main" id="{DB98518F-F544-4804-B591-3A1C99C4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05000"/>
            <a:ext cx="4029075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9525">
            <a:solidFill>
              <a:srgbClr val="20252D">
                <a:alpha val="1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9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F8B86257-69D9-4482-8AED-23F498FD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095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C91866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C918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0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FAB72287-F541-4AE1-83B9-628F3111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5241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E6E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E6E73"/>
                </a:solidFill>
                <a:latin typeface="Arial"/>
                <a:ea typeface="Arial"/>
                <a:cs typeface="Arial"/>
              </a:rPr>
              <a:t>tested pages in the first sampler</a:t>
            </a:r>
          </a:p>
        </p:txBody>
      </p:sp>
      <p:sp>
        <p:nvSpPr>
          <p:cNvPr id="11" name="metric-2">
            <a:extLst xmlns:a="http://schemas.openxmlformats.org/drawingml/2006/main">
              <a:ext uri="{FF2B5EF4-FFF2-40B4-BE49-F238E27FC236}">
                <a16:creationId xmlns:a16="http://schemas.microsoft.com/office/drawing/2014/main" id="{F298F83B-5B56-4325-95C1-9EE4C51E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62300"/>
            <a:ext cx="4029075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9525">
            <a:solidFill>
              <a:srgbClr val="20252D">
                <a:alpha val="1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C444158F-60CB-4A86-9B91-BC9B664A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3528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C91866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C9186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3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7280CE88-B723-44CD-9BFE-F39BFE4C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7814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E6E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E6E73"/>
                </a:solidFill>
                <a:latin typeface="Arial"/>
                <a:ea typeface="Arial"/>
                <a:cs typeface="Arial"/>
              </a:rPr>
              <a:t>distinct layout silhouettes in use</a:t>
            </a:r>
          </a:p>
        </p:txBody>
      </p:sp>
      <p:sp>
        <p:nvSpPr>
          <p:cNvPr id="14" name="metric-3">
            <a:extLst xmlns:a="http://schemas.openxmlformats.org/drawingml/2006/main">
              <a:ext uri="{FF2B5EF4-FFF2-40B4-BE49-F238E27FC236}">
                <a16:creationId xmlns:a16="http://schemas.microsoft.com/office/drawing/2014/main" id="{A36E0646-8FEB-41F2-A20A-36FBA031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19600"/>
            <a:ext cx="4029075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9525">
            <a:solidFill>
              <a:srgbClr val="20252D">
                <a:alpha val="1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5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5FDD5BB1-3125-4D64-883C-F70BEE28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6101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 i="0">
                <a:solidFill>
                  <a:srgbClr val="C91866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C918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AF694944-8AF4-44DB-ADA5-F507D2D5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0387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 i="0">
                <a:solidFill>
                  <a:srgbClr val="6E6E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E6E73"/>
                </a:solidFill>
                <a:latin typeface="Arial"/>
                <a:ea typeface="Arial"/>
                <a:cs typeface="Arial"/>
              </a:rPr>
              <a:t>matched outputs: HTML and editable PPTX</a:t>
            </a:r>
          </a:p>
        </p:txBody>
      </p:sp>
      <p:sp>
        <p:nvSpPr>
          <p:cNvPr id="17" name="chrome-8-brand">
            <a:extLst xmlns:a="http://schemas.openxmlformats.org/drawingml/2006/main">
              <a:ext uri="{FF2B5EF4-FFF2-40B4-BE49-F238E27FC236}">
                <a16:creationId xmlns:a16="http://schemas.microsoft.com/office/drawing/2014/main" id="{E62E9CDE-7832-4F9D-9427-4AE0C5D8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E6E7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E73"/>
                </a:solidFill>
                <a:latin typeface="Arial"/>
                <a:ea typeface="Arial"/>
                <a:cs typeface="Arial"/>
              </a:rPr>
              <a:t>GoPomelo</a:t>
            </a:r>
          </a:p>
        </p:txBody>
      </p:sp>
      <p:sp>
        <p:nvSpPr>
          <p:cNvPr id="18" name="chrome-8-page">
            <a:extLst xmlns:a="http://schemas.openxmlformats.org/drawingml/2006/main">
              <a:ext uri="{FF2B5EF4-FFF2-40B4-BE49-F238E27FC236}">
                <a16:creationId xmlns:a16="http://schemas.microsoft.com/office/drawing/2014/main" id="{BE1BC540-FE83-4441-B85D-784AF6CC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E6E7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E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96677516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191F"/>
            </a:gs>
            <a:gs pos="100000">
              <a:srgbClr val="20252D"/>
            </a:gs>
          </a:gsLst>
          <a:lin ang="87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P09-pink-wash">
            <a:extLst xmlns:a="http://schemas.openxmlformats.org/drawingml/2006/main">
              <a:ext uri="{FF2B5EF4-FFF2-40B4-BE49-F238E27FC236}">
                <a16:creationId xmlns:a16="http://schemas.microsoft.com/office/drawing/2014/main" id="{1493EC2A-91A2-4974-AA89-2F24A06F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286000" cy="22860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83F8F">
                  <a:alpha val="16000"/>
                </a:srgbClr>
              </a:gs>
              <a:gs pos="72000">
                <a:srgbClr val="F83F8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case-image-shadow-frame">
            <a:extLst xmlns:a="http://schemas.openxmlformats.org/drawingml/2006/main">
              <a:ext uri="{FF2B5EF4-FFF2-40B4-BE49-F238E27FC236}">
                <a16:creationId xmlns:a16="http://schemas.microsoft.com/office/drawing/2014/main" id="{F8DC2511-9F60-4A2E-B127-EDB6C1BE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191250" cy="476250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20252D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5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8b8e77e224785"/>
          <a:srcRect xmlns:a="http://schemas.openxmlformats.org/drawingml/2006/main" l="13313" t="0" r="133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876300"/>
            <a:ext cx="6191250" cy="476250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4" name="Stress test-dot">
            <a:extLst xmlns:a="http://schemas.openxmlformats.org/drawingml/2006/main">
              <a:ext uri="{FF2B5EF4-FFF2-40B4-BE49-F238E27FC236}">
                <a16:creationId xmlns:a16="http://schemas.microsoft.com/office/drawing/2014/main" id="{B3E1E79A-6AD6-4C23-ABA0-4A4A9B0C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942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3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ess test-eyebrow">
            <a:extLst xmlns:a="http://schemas.openxmlformats.org/drawingml/2006/main">
              <a:ext uri="{FF2B5EF4-FFF2-40B4-BE49-F238E27FC236}">
                <a16:creationId xmlns:a16="http://schemas.microsoft.com/office/drawing/2014/main" id="{878F453C-4D48-48F6-A733-BD4AD396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89535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STRESS TEST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79F8EA72-F5CA-4F38-A6F1-EB449E0A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314450"/>
            <a:ext cx="4000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8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visual system should survive real content</a:t>
            </a:r>
          </a:p>
        </p:txBody>
      </p:sp>
      <p:sp>
        <p:nvSpPr>
          <p:cNvPr id="7" name="case-label-1">
            <a:extLst xmlns:a="http://schemas.openxmlformats.org/drawingml/2006/main">
              <a:ext uri="{FF2B5EF4-FFF2-40B4-BE49-F238E27FC236}">
                <a16:creationId xmlns:a16="http://schemas.microsoft.com/office/drawing/2014/main" id="{17F44921-D955-467C-BE0A-214C5AE0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83F8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83F8F"/>
                </a:solidFill>
                <a:latin typeface="Arial"/>
                <a:ea typeface="Arial"/>
                <a:cs typeface="Arial"/>
              </a:rPr>
              <a:t>CHALLENGE</a:t>
            </a:r>
          </a:p>
        </p:txBody>
      </p:sp>
      <p:sp>
        <p:nvSpPr>
          <p:cNvPr id="8" name="case-heading-1">
            <a:extLst xmlns:a="http://schemas.openxmlformats.org/drawingml/2006/main">
              <a:ext uri="{FF2B5EF4-FFF2-40B4-BE49-F238E27FC236}">
                <a16:creationId xmlns:a16="http://schemas.microsoft.com/office/drawing/2014/main" id="{6FFB068F-D189-4D97-ABDA-80665CAC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03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Stay recognizable</a:t>
            </a:r>
          </a:p>
        </p:txBody>
      </p:sp>
      <p:sp>
        <p:nvSpPr>
          <p:cNvPr id="9" name="case-copy-1">
            <a:extLst xmlns:a="http://schemas.openxmlformats.org/drawingml/2006/main">
              <a:ext uri="{FF2B5EF4-FFF2-40B4-BE49-F238E27FC236}">
                <a16:creationId xmlns:a16="http://schemas.microsoft.com/office/drawing/2014/main" id="{9D998FAC-1ABB-43BF-B7B4-47CF9940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528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rPr>
              <a:t>Keep GoPomelo visible without turning every page into a homepage.</a:t>
            </a:r>
          </a:p>
        </p:txBody>
      </p:sp>
      <p:sp>
        <p:nvSpPr>
          <p:cNvPr id="10" name="case-rule-2">
            <a:extLst xmlns:a="http://schemas.openxmlformats.org/drawingml/2006/main">
              <a:ext uri="{FF2B5EF4-FFF2-40B4-BE49-F238E27FC236}">
                <a16:creationId xmlns:a16="http://schemas.microsoft.com/office/drawing/2014/main" id="{C3E5700C-10F9-4269-8764-09FE5816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se-label-2">
            <a:extLst xmlns:a="http://schemas.openxmlformats.org/drawingml/2006/main">
              <a:ext uri="{FF2B5EF4-FFF2-40B4-BE49-F238E27FC236}">
                <a16:creationId xmlns:a16="http://schemas.microsoft.com/office/drawing/2014/main" id="{6570D3C9-B791-404B-B6B0-B2EA5DD1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909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83F8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83F8F"/>
                </a:solidFill>
                <a:latin typeface="Arial"/>
                <a:ea typeface="Arial"/>
                <a:cs typeface="Arial"/>
              </a:rPr>
              <a:t>APPROACH</a:t>
            </a:r>
          </a:p>
        </p:txBody>
      </p:sp>
      <p:sp>
        <p:nvSpPr>
          <p:cNvPr id="12" name="case-heading-2">
            <a:extLst xmlns:a="http://schemas.openxmlformats.org/drawingml/2006/main">
              <a:ext uri="{FF2B5EF4-FFF2-40B4-BE49-F238E27FC236}">
                <a16:creationId xmlns:a16="http://schemas.microsoft.com/office/drawing/2014/main" id="{A2419AD7-7476-40A8-A384-12393BF9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290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Use selective signals</a:t>
            </a:r>
          </a:p>
        </p:txBody>
      </p:sp>
      <p:sp>
        <p:nvSpPr>
          <p:cNvPr id="13" name="case-copy-2">
            <a:extLst xmlns:a="http://schemas.openxmlformats.org/drawingml/2006/main">
              <a:ext uri="{FF2B5EF4-FFF2-40B4-BE49-F238E27FC236}">
                <a16:creationId xmlns:a16="http://schemas.microsoft.com/office/drawing/2014/main" id="{11BE1057-4223-4EC4-ABCF-4A62B000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815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rPr>
              <a:t>Pink and orange accents, large type and translucent cards do the branding work.</a:t>
            </a:r>
          </a:p>
        </p:txBody>
      </p:sp>
      <p:sp>
        <p:nvSpPr>
          <p:cNvPr id="14" name="case-rule-3">
            <a:extLst xmlns:a="http://schemas.openxmlformats.org/drawingml/2006/main">
              <a:ext uri="{FF2B5EF4-FFF2-40B4-BE49-F238E27FC236}">
                <a16:creationId xmlns:a16="http://schemas.microsoft.com/office/drawing/2014/main" id="{05998B2A-5CD3-432C-9B1B-B2CDB43D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053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se-label-3">
            <a:extLst xmlns:a="http://schemas.openxmlformats.org/drawingml/2006/main">
              <a:ext uri="{FF2B5EF4-FFF2-40B4-BE49-F238E27FC236}">
                <a16:creationId xmlns:a16="http://schemas.microsoft.com/office/drawing/2014/main" id="{F1DE5477-A1C0-4CB1-B8F8-DD46A5B5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196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83F8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83F8F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16" name="case-heading-3">
            <a:extLst xmlns:a="http://schemas.openxmlformats.org/drawingml/2006/main">
              <a:ext uri="{FF2B5EF4-FFF2-40B4-BE49-F238E27FC236}">
                <a16:creationId xmlns:a16="http://schemas.microsoft.com/office/drawing/2014/main" id="{C3FF6AC4-4BE7-4DD0-9E5E-E0F9B75B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577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Carry different stories</a:t>
            </a:r>
          </a:p>
        </p:txBody>
      </p:sp>
      <p:sp>
        <p:nvSpPr>
          <p:cNvPr id="17" name="case-copy-3">
            <a:extLst xmlns:a="http://schemas.openxmlformats.org/drawingml/2006/main">
              <a:ext uri="{FF2B5EF4-FFF2-40B4-BE49-F238E27FC236}">
                <a16:creationId xmlns:a16="http://schemas.microsoft.com/office/drawing/2014/main" id="{E8D53EE7-C09A-4D33-A119-602F6DAE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4102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0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rPr>
              <a:t>A system ready for proposals, keynotes and business reviews.</a:t>
            </a:r>
          </a:p>
        </p:txBody>
      </p:sp>
      <p:sp>
        <p:nvSpPr>
          <p:cNvPr id="18" name="chrome-9-brand">
            <a:extLst xmlns:a="http://schemas.openxmlformats.org/drawingml/2006/main">
              <a:ext uri="{FF2B5EF4-FFF2-40B4-BE49-F238E27FC236}">
                <a16:creationId xmlns:a16="http://schemas.microsoft.com/office/drawing/2014/main" id="{FE2054AF-D0CD-4DE8-937E-5CD34DFB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rPr>
              <a:t>GoPomelo</a:t>
            </a:r>
          </a:p>
        </p:txBody>
      </p:sp>
      <p:sp>
        <p:nvSpPr>
          <p:cNvPr id="19" name="chrome-9-page">
            <a:extLst xmlns:a="http://schemas.openxmlformats.org/drawingml/2006/main">
              <a:ext uri="{FF2B5EF4-FFF2-40B4-BE49-F238E27FC236}">
                <a16:creationId xmlns:a16="http://schemas.microsoft.com/office/drawing/2014/main" id="{1B5CBA0F-E083-4E56-9BB1-B70B03A6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>
                    <a:alpha val="74000"/>
                  </a:srgbClr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9209875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FFFFF"/>
            </a:gs>
            <a:gs pos="100000">
              <a:srgbClr val="FFFDFC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P10-warm-wash">
            <a:extLst xmlns:a="http://schemas.openxmlformats.org/drawingml/2006/main">
              <a:ext uri="{FF2B5EF4-FFF2-40B4-BE49-F238E27FC236}">
                <a16:creationId xmlns:a16="http://schemas.microsoft.com/office/drawing/2014/main" id="{51EE0C4D-DB7B-496D-A640-DD370C21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0"/>
            <a:ext cx="2095500" cy="20955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B9305">
                  <a:alpha val="10000"/>
                </a:srgbClr>
              </a:gs>
              <a:gs pos="48000">
                <a:srgbClr val="F3604F">
                  <a:alpha val="4000"/>
                </a:srgbClr>
              </a:gs>
              <a:gs pos="100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7092b102f4867"/>
          <a:stretch xmlns:a="http://schemas.openxmlformats.org/drawingml/2006/main"/>
        </p:blipFill>
        <p:spPr>
          <a:xfrm xmlns:a="http://schemas.openxmlformats.org/drawingml/2006/main">
            <a:off x="685800" y="591397"/>
            <a:ext cx="1352550" cy="255482"/>
          </a:xfrm>
          <a:prstGeom xmlns:a="http://schemas.openxmlformats.org/drawingml/2006/main" prst="rect">
            <a:avLst/>
          </a:prstGeom>
        </p:spPr>
      </p:pic>
      <p:sp>
        <p:nvSpPr>
          <p:cNvPr id="3" name="Next step-dot">
            <a:extLst xmlns:a="http://schemas.openxmlformats.org/drawingml/2006/main">
              <a:ext uri="{FF2B5EF4-FFF2-40B4-BE49-F238E27FC236}">
                <a16:creationId xmlns:a16="http://schemas.microsoft.com/office/drawing/2014/main" id="{026265AF-A2B7-4248-928F-01DD1643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3F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Next step-eyebrow">
            <a:extLst xmlns:a="http://schemas.openxmlformats.org/drawingml/2006/main">
              <a:ext uri="{FF2B5EF4-FFF2-40B4-BE49-F238E27FC236}">
                <a16:creationId xmlns:a16="http://schemas.microsoft.com/office/drawing/2014/main" id="{D3C57CEB-7FBD-4D10-B5F1-1A3336E8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0252D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5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E708EABF-2C3A-4F6F-8F8D-788EA9B7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400" b="1" i="0">
                <a:solidFill>
                  <a:srgbClr val="20252D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20252D"/>
                </a:solidFill>
                <a:latin typeface="Arial"/>
                <a:ea typeface="Arial"/>
                <a:cs typeface="Arial"/>
              </a:rPr>
              <a:t>Build the next story in GoPomelo style</a:t>
            </a:r>
          </a:p>
        </p:txBody>
      </p:sp>
      <p:sp>
        <p:nvSpPr>
          <p:cNvPr id="6" name="closing-support">
            <a:extLst xmlns:a="http://schemas.openxmlformats.org/drawingml/2006/main">
              <a:ext uri="{FF2B5EF4-FFF2-40B4-BE49-F238E27FC236}">
                <a16:creationId xmlns:a16="http://schemas.microsoft.com/office/drawing/2014/main" id="{0DA24B3F-68E0-428C-AACE-430F16A2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575" b="0" i="0">
                <a:solidFill>
                  <a:srgbClr val="6E6E7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E6E73"/>
                </a:solidFill>
                <a:latin typeface="Arial"/>
                <a:ea typeface="Arial"/>
                <a:cs typeface="Arial"/>
              </a:rPr>
              <a:t>Use clean light and dark fields across proposals, keynotes and business reviews — with color reserved for emphasis.</a:t>
            </a:r>
          </a:p>
        </p:txBody>
      </p:sp>
      <p:sp>
        <p:nvSpPr>
          <p:cNvPr id="7" name="closing-cta">
            <a:extLst xmlns:a="http://schemas.openxmlformats.org/drawingml/2006/main">
              <a:ext uri="{FF2B5EF4-FFF2-40B4-BE49-F238E27FC236}">
                <a16:creationId xmlns:a16="http://schemas.microsoft.com/office/drawing/2014/main" id="{6CBC82D6-C971-4E67-AA1F-66CE3E7F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20955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52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6"/>
          <a:fontRef xmlns:a="http://schemas.openxmlformats.org/drawingml/2006/main" idx="major"/>
        </p:style>
      </p:sp>
      <p:sp>
        <p:nvSpPr>
          <p:cNvPr id="8" name="closing-cta-text">
            <a:extLst xmlns:a="http://schemas.openxmlformats.org/drawingml/2006/main">
              <a:ext uri="{FF2B5EF4-FFF2-40B4-BE49-F238E27FC236}">
                <a16:creationId xmlns:a16="http://schemas.microsoft.com/office/drawing/2014/main" id="{7BEC4394-7D02-47BA-9473-2A97C886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 with a layout</a:t>
            </a:r>
          </a:p>
        </p:txBody>
      </p:sp>
      <p:sp>
        <p:nvSpPr>
          <p:cNvPr id="9" name="chrome-10-brand">
            <a:extLst xmlns:a="http://schemas.openxmlformats.org/drawingml/2006/main">
              <a:ext uri="{FF2B5EF4-FFF2-40B4-BE49-F238E27FC236}">
                <a16:creationId xmlns:a16="http://schemas.microsoft.com/office/drawing/2014/main" id="{FF722E6D-A405-4F55-8F9B-E389B73A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 i="0">
                <a:solidFill>
                  <a:srgbClr val="6E6E7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E73"/>
                </a:solidFill>
                <a:latin typeface="Arial"/>
                <a:ea typeface="Arial"/>
                <a:cs typeface="Arial"/>
              </a:rPr>
              <a:t>GoPomelo</a:t>
            </a:r>
          </a:p>
        </p:txBody>
      </p:sp>
      <p:sp>
        <p:nvSpPr>
          <p:cNvPr id="10" name="chrome-10-page">
            <a:extLst xmlns:a="http://schemas.openxmlformats.org/drawingml/2006/main">
              <a:ext uri="{FF2B5EF4-FFF2-40B4-BE49-F238E27FC236}">
                <a16:creationId xmlns:a16="http://schemas.microsoft.com/office/drawing/2014/main" id="{11FF884E-A50F-4113-92B7-E03EA982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 i="0">
                <a:solidFill>
                  <a:srgbClr val="6E6E7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E6E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21575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95250" dir="5400000">
              <a:srgbClr val="5B2E36">
                <a:alpha val="7000"/>
              </a:srgbClr>
            </a:outerShdw>
          </a:effectLst>
        </a:effectStyle>
        <a:effectStyle>
          <a:effectLst>
            <a:outerShdw blurRad="342900" dist="133350" dir="5400000">
              <a:srgbClr val="5B2E36">
                <a:alpha val="8000"/>
              </a:srgbClr>
            </a:outerShdw>
          </a:effectLst>
        </a:effectStyle>
        <a:effectStyle>
          <a:effectLst>
            <a:outerShdw blurRad="495300" dist="171450" dir="5400000">
              <a:srgbClr val="5B2E36">
                <a:alpha val="13000"/>
              </a:srgbClr>
            </a:outerShdw>
          </a:effectLst>
        </a:effectStyle>
        <a:effectStyle>
          <a:effectLst>
            <a:outerShdw blurRad="247650" dist="95250" dir="5400000">
              <a:srgbClr val="5B2E36">
                <a:alpha val="15000"/>
              </a:srgbClr>
            </a:outerShdw>
          </a:effectLst>
        </a:effectStyle>
        <a:effectStyle>
          <a:effectLst>
            <a:outerShdw blurRad="304800" dist="11430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514350" dist="171450" dir="5400000">
              <a:srgbClr val="000000">
                <a:alpha val="22000"/>
              </a:srgbClr>
            </a:outerShdw>
          </a:effectLst>
        </a:effectStyle>
        <a:effectStyle>
          <a:effectLst>
            <a:outerShdw blurRad="285750" dist="114300" dir="5400000">
              <a:srgbClr val="000000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2026-07-15T13:33:20.1480000Z</dcterms:created>
  <dcterms:modified xsi:type="dcterms:W3CDTF">2026-07-15T13:33:20.1480000Z</dcterms:modified>
</coreProperties>
</file>